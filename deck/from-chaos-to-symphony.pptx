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22"/>
  </p:notesMasterIdLst>
  <p:sldIdLst>
    <p:sldId id="256" r:id="rId5"/>
    <p:sldId id="257" r:id="rId6"/>
    <p:sldId id="258" r:id="rId7"/>
    <p:sldId id="259" r:id="rId8"/>
    <p:sldId id="260" r:id="rId10"/>
    <p:sldId id="261" r:id="rId28"/>
    <p:sldId id="262" r:id="rId29"/>
    <p:sldId id="263" r:id="rId11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9"/>
    <p:sldId id="27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376E"/>
    <a:srgbClr val="E3E6EB"/>
    <a:srgbClr val="FFFFFF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C9105-4CD2-4630-AFB2-C064C04D8042}" v="222" dt="2026-09-06T18:47:52.7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132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23.xml"/><Relationship Id="rId10" Type="http://schemas.openxmlformats.org/officeDocument/2006/relationships/slide" Target="slides/slide5.xml"/><Relationship Id="rId11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A0F5EE-325B-4BA9-A28A-BD17E69482C0}" type="datetimeFigureOut">
              <a:rPr lang="en-GB" smtClean="0"/>
              <a:t>19/09/2026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4BF0C-4E00-4C17-828E-D4FB886CDF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133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Same title as last year, deliberately - this is the second movement, not a repeat. Last year we explained five patterns and demoed two of them. This year every pattern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framing that sets up the whole session: nothing new was named, and that is the point. If you came expecting a sixth pattern, what you get instead is the layer underneath and the production scaffolding - the part that decides whether this survives contact with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Sequential is what most multi-agent problems actually are. Start here and escalate only when a linear chain genuinely cannot express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capable and the most expensive pattern. The three ceilings are not optional - without them a language model decides at runtime how much your budget buys.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material that did not exist in last year's talk. When someone asks 'what if none of the five fit', this is the answer: build the graph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demo proves durability the only honest way - we throw the first workflow instance away and let a brand new one finish the job from the checkpoint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section the abstract promised and most conference talks skip. All three of these are invisible in a demo and inevitable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showcase site. Pattern rail on the left, run each one, DevUI tab shows the framework's own view. The human-in-the-loop pattern will actually stop and wait for a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is in the repo, including the offline client, so anyone can clone it and run all twelve patterns on the train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063A706D-2720-D5B7-316F-011266F16F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038" y="901700"/>
            <a:ext cx="11557001" cy="546553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811E9B-17E7-2589-9C90-C1347E1B98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8126" y="5479094"/>
            <a:ext cx="12276000" cy="1385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A432EF-84C7-BC4A-EAB3-B72C846A39C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48267" y="1305645"/>
            <a:ext cx="10320866" cy="2387600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A5C79E-D038-22B3-B9D8-4AAC57D6F5E8}"/>
              </a:ext>
            </a:extLst>
          </p:cNvPr>
          <p:cNvSpPr txBox="1"/>
          <p:nvPr userDrawn="1"/>
        </p:nvSpPr>
        <p:spPr>
          <a:xfrm>
            <a:off x="9962194" y="63246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1031833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>
            <a:extLst>
              <a:ext uri="{FF2B5EF4-FFF2-40B4-BE49-F238E27FC236}">
                <a16:creationId xmlns:a16="http://schemas.microsoft.com/office/drawing/2014/main" id="{7BC48D2D-20F1-784F-0F90-9C1262A5B05E}"/>
              </a:ext>
            </a:extLst>
          </p:cNvPr>
          <p:cNvSpPr/>
          <p:nvPr userDrawn="1"/>
        </p:nvSpPr>
        <p:spPr>
          <a:xfrm>
            <a:off x="6089650" y="908050"/>
            <a:ext cx="5761038" cy="5689599"/>
          </a:xfrm>
          <a:prstGeom prst="roundRect">
            <a:avLst>
              <a:gd name="adj" fmla="val 7123"/>
            </a:avLst>
          </a:prstGeom>
          <a:gradFill>
            <a:gsLst>
              <a:gs pos="0">
                <a:srgbClr val="5E8AA7"/>
              </a:gs>
              <a:gs pos="16000">
                <a:srgbClr val="618BA5"/>
              </a:gs>
              <a:gs pos="79000">
                <a:srgbClr val="DAAE7D"/>
              </a:gs>
              <a:gs pos="100000">
                <a:srgbClr val="DAAF7D"/>
              </a:gs>
            </a:gsLst>
            <a:lin ang="7048150" scaled="1"/>
          </a:gradFill>
          <a:ln w="12672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BB3338B-DE5B-921F-EFDF-522A037976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932685"/>
            <a:ext cx="5412426" cy="787929"/>
          </a:xfrm>
        </p:spPr>
        <p:txBody>
          <a:bodyPr anchor="t"/>
          <a:lstStyle>
            <a:lvl1pPr>
              <a:defRPr sz="4000"/>
            </a:lvl1pPr>
          </a:lstStyle>
          <a:p>
            <a:r>
              <a:rPr lang="en-GB" dirty="0"/>
              <a:t>AGENDA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BD22128-C99F-645B-3B5B-3E7D19B6EE1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8126" y="5479094"/>
            <a:ext cx="12276000" cy="138512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627B191-19B9-508E-0910-DF4A1A6E35E8}"/>
              </a:ext>
            </a:extLst>
          </p:cNvPr>
          <p:cNvGrpSpPr/>
          <p:nvPr userDrawn="1"/>
        </p:nvGrpSpPr>
        <p:grpSpPr>
          <a:xfrm>
            <a:off x="6089202" y="1371600"/>
            <a:ext cx="5761038" cy="523220"/>
            <a:chOff x="6089202" y="1371600"/>
            <a:chExt cx="5761038" cy="52322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89E68A1-A268-ADB1-4A96-E16912F2407F}"/>
                </a:ext>
              </a:extLst>
            </p:cNvPr>
            <p:cNvCxnSpPr/>
            <p:nvPr userDrawn="1"/>
          </p:nvCxnSpPr>
          <p:spPr>
            <a:xfrm>
              <a:off x="7298267" y="1778000"/>
              <a:ext cx="3344333" cy="0"/>
            </a:xfrm>
            <a:prstGeom prst="line">
              <a:avLst/>
            </a:prstGeom>
            <a:ln w="3810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99AD8F0-58D0-F3F0-5567-D7825E84C48E}"/>
                </a:ext>
              </a:extLst>
            </p:cNvPr>
            <p:cNvSpPr txBox="1"/>
            <p:nvPr userDrawn="1"/>
          </p:nvSpPr>
          <p:spPr>
            <a:xfrm>
              <a:off x="6089202" y="1371600"/>
              <a:ext cx="576103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/>
                <a:t>#GrowBetterTogether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028561D9-B9D5-8B4D-99DD-E659AB6657CC}"/>
              </a:ext>
            </a:extLst>
          </p:cNvPr>
          <p:cNvSpPr txBox="1"/>
          <p:nvPr userDrawn="1"/>
        </p:nvSpPr>
        <p:spPr>
          <a:xfrm>
            <a:off x="6096000" y="1984346"/>
            <a:ext cx="57542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</a:rPr>
              <a:t>Unleash the power of Microsoft solutions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C1501-628F-AAB4-93DB-EBEC142830A6}"/>
              </a:ext>
            </a:extLst>
          </p:cNvPr>
          <p:cNvGrpSpPr/>
          <p:nvPr/>
        </p:nvGrpSpPr>
        <p:grpSpPr>
          <a:xfrm>
            <a:off x="241315" y="1984346"/>
            <a:ext cx="5558895" cy="671297"/>
            <a:chOff x="1430867" y="3789363"/>
            <a:chExt cx="3530599" cy="671297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60444AA-1E09-69C7-1B11-F2EC6CA9462C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3EB3D2CC-B955-5431-C27A-0B93FD3D05C9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FDBAC87-53BE-2F60-E3CB-57E167BA080C}"/>
              </a:ext>
            </a:extLst>
          </p:cNvPr>
          <p:cNvGrpSpPr/>
          <p:nvPr/>
        </p:nvGrpSpPr>
        <p:grpSpPr>
          <a:xfrm>
            <a:off x="241315" y="2806456"/>
            <a:ext cx="5558895" cy="671297"/>
            <a:chOff x="1430867" y="3789363"/>
            <a:chExt cx="3530599" cy="671297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85A130A1-E3E5-1BEB-0B6B-7D5BC07CB613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EA26A0A6-B2CF-2E91-0704-5CAC80731514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F280F55-70A2-9C32-01AC-28AC29F35765}"/>
              </a:ext>
            </a:extLst>
          </p:cNvPr>
          <p:cNvGrpSpPr/>
          <p:nvPr/>
        </p:nvGrpSpPr>
        <p:grpSpPr>
          <a:xfrm>
            <a:off x="241315" y="3710900"/>
            <a:ext cx="5558895" cy="671297"/>
            <a:chOff x="1430867" y="3789363"/>
            <a:chExt cx="3530599" cy="671297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C45BFC87-32AC-9917-A595-461F879E70E1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BCF989FA-0126-59C4-6AF9-5DE67E582E9F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B34C4B0-99BD-67F5-D341-4840F67CAB27}"/>
              </a:ext>
            </a:extLst>
          </p:cNvPr>
          <p:cNvGrpSpPr/>
          <p:nvPr/>
        </p:nvGrpSpPr>
        <p:grpSpPr>
          <a:xfrm>
            <a:off x="241315" y="4574650"/>
            <a:ext cx="5558895" cy="671297"/>
            <a:chOff x="1430867" y="3789363"/>
            <a:chExt cx="3530599" cy="671297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19AB3B60-6743-6D74-1AFE-39C97995D44E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E118D2BC-9459-CD2F-2B16-CC2D2FDA3D8C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49A7B70-E3D0-05FC-161D-DFD0FDDF142A}"/>
              </a:ext>
            </a:extLst>
          </p:cNvPr>
          <p:cNvGrpSpPr/>
          <p:nvPr/>
        </p:nvGrpSpPr>
        <p:grpSpPr>
          <a:xfrm>
            <a:off x="241315" y="5438400"/>
            <a:ext cx="5558895" cy="671297"/>
            <a:chOff x="1430867" y="3789363"/>
            <a:chExt cx="3530599" cy="671297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94A22895-29EF-39A8-3A8E-16239465CE6F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E9492F8C-2651-1FEE-5CD5-F55A5E58AD99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5655B2A-8BD7-9107-F5E4-D94C5CB404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0038" y="2117725"/>
            <a:ext cx="5380197" cy="414338"/>
          </a:xfrm>
        </p:spPr>
        <p:txBody>
          <a:bodyPr/>
          <a:lstStyle>
            <a:lvl1pPr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en-GB" dirty="0"/>
              <a:t>Bullet point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3D791E15-5FAE-E768-22D0-91A8E669A9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0038" y="2952000"/>
            <a:ext cx="5380197" cy="414338"/>
          </a:xfrm>
        </p:spPr>
        <p:txBody>
          <a:bodyPr/>
          <a:lstStyle>
            <a:lvl1pPr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en-GB" dirty="0"/>
              <a:t>Bullet point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588ED03-3687-EE66-3BCB-43EBAA0417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0664" y="3836570"/>
            <a:ext cx="5380197" cy="414338"/>
          </a:xfrm>
        </p:spPr>
        <p:txBody>
          <a:bodyPr/>
          <a:lstStyle>
            <a:lvl1pPr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en-GB" dirty="0"/>
              <a:t>Bullet point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DEC80A5B-23E0-0956-8963-7923AD9BA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152" y="4697678"/>
            <a:ext cx="5380197" cy="414338"/>
          </a:xfrm>
        </p:spPr>
        <p:txBody>
          <a:bodyPr/>
          <a:lstStyle>
            <a:lvl1pPr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en-GB" dirty="0"/>
              <a:t>Bullet point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DA47B375-D6B8-8FC1-0B10-F37B051A31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312" y="5561428"/>
            <a:ext cx="5380197" cy="414338"/>
          </a:xfrm>
        </p:spPr>
        <p:txBody>
          <a:bodyPr/>
          <a:lstStyle>
            <a:lvl1pPr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</a:lstStyle>
          <a:p>
            <a:pPr lvl="0"/>
            <a:r>
              <a:rPr lang="en-GB" dirty="0"/>
              <a:t>Bullet point</a:t>
            </a:r>
          </a:p>
        </p:txBody>
      </p:sp>
      <p:sp>
        <p:nvSpPr>
          <p:cNvPr id="45" name="Slide Number Placeholder 4">
            <a:extLst>
              <a:ext uri="{FF2B5EF4-FFF2-40B4-BE49-F238E27FC236}">
                <a16:creationId xmlns:a16="http://schemas.microsoft.com/office/drawing/2014/main" id="{E1889766-CE9D-4A1D-1087-21008A81A12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222265" y="6328233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FCAB85-9595-7C48-D312-8993558E99DB}"/>
              </a:ext>
            </a:extLst>
          </p:cNvPr>
          <p:cNvSpPr txBox="1"/>
          <p:nvPr userDrawn="1"/>
        </p:nvSpPr>
        <p:spPr>
          <a:xfrm>
            <a:off x="9969023" y="6321476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1586157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9">
            <a:extLst>
              <a:ext uri="{FF2B5EF4-FFF2-40B4-BE49-F238E27FC236}">
                <a16:creationId xmlns:a16="http://schemas.microsoft.com/office/drawing/2014/main" id="{52479AE8-BADA-1812-EC14-43B72BCEDD7A}"/>
              </a:ext>
            </a:extLst>
          </p:cNvPr>
          <p:cNvSpPr/>
          <p:nvPr/>
        </p:nvSpPr>
        <p:spPr>
          <a:xfrm>
            <a:off x="300038" y="908051"/>
            <a:ext cx="11550650" cy="5949950"/>
          </a:xfrm>
          <a:prstGeom prst="roundRect">
            <a:avLst>
              <a:gd name="adj" fmla="val 9907"/>
            </a:avLst>
          </a:prstGeom>
          <a:gradFill>
            <a:gsLst>
              <a:gs pos="0">
                <a:srgbClr val="5E8AA7"/>
              </a:gs>
              <a:gs pos="16000">
                <a:srgbClr val="618BA5"/>
              </a:gs>
              <a:gs pos="79000">
                <a:srgbClr val="DAAE7D"/>
              </a:gs>
              <a:gs pos="100000">
                <a:srgbClr val="DAAF7D"/>
              </a:gs>
            </a:gsLst>
            <a:lin ang="7048150" scaled="1"/>
          </a:gradFill>
          <a:ln w="12672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E83CC91-DE04-4D97-A41D-836032D87A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8126" y="5479094"/>
            <a:ext cx="12276000" cy="13851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ECC9CA-14EC-AB23-C592-DE97782D06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9041" y="983852"/>
            <a:ext cx="5412426" cy="2852737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Title of this section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87EEFFD1-CE90-EB1D-74C5-87A06367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9238" y="6341256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E9E088-8B1C-3BAD-E47E-0A5976F81D18}"/>
              </a:ext>
            </a:extLst>
          </p:cNvPr>
          <p:cNvSpPr txBox="1"/>
          <p:nvPr userDrawn="1"/>
        </p:nvSpPr>
        <p:spPr>
          <a:xfrm>
            <a:off x="9968230" y="6330699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3000282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  <p15:guide id="2" orient="horz" pos="22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ext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919635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6640" y="6367237"/>
            <a:ext cx="715010" cy="365125"/>
          </a:xfrm>
          <a:prstGeom prst="rect">
            <a:avLst/>
          </a:prstGeom>
        </p:spPr>
        <p:txBody>
          <a:bodyPr/>
          <a:lstStyle/>
          <a:p>
            <a:fld id="{F34EF763-FEF5-41B7-B3EE-DB7F8F9EC2F0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735C46-819B-09C7-4C8E-9933DF52E3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3850" y="1981200"/>
            <a:ext cx="11531600" cy="4165600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67F5C8-EECF-76BA-B21D-68DA2800425B}"/>
              </a:ext>
            </a:extLst>
          </p:cNvPr>
          <p:cNvSpPr txBox="1"/>
          <p:nvPr userDrawn="1"/>
        </p:nvSpPr>
        <p:spPr>
          <a:xfrm>
            <a:off x="9098280" y="63500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F075748-A850-5403-6AAF-1768125D5D52}"/>
              </a:ext>
            </a:extLst>
          </p:cNvPr>
          <p:cNvSpPr txBox="1">
            <a:spLocks/>
          </p:cNvSpPr>
          <p:nvPr userDrawn="1"/>
        </p:nvSpPr>
        <p:spPr>
          <a:xfrm>
            <a:off x="224790" y="6358467"/>
            <a:ext cx="71501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668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57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ext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388" y="927346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790" y="635846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735C46-819B-09C7-4C8E-9933DF52E3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632830"/>
            <a:ext cx="5399617" cy="3513970"/>
          </a:xfr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Bullet points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98AEB1E-2CB2-4BAE-C2BB-F80F832128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57420" y="2641600"/>
            <a:ext cx="5399618" cy="3513970"/>
          </a:xfr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Bullet points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E3AC1E3-C2FF-473A-214E-838D1EFB8B5E}"/>
              </a:ext>
            </a:extLst>
          </p:cNvPr>
          <p:cNvGrpSpPr/>
          <p:nvPr/>
        </p:nvGrpSpPr>
        <p:grpSpPr>
          <a:xfrm>
            <a:off x="323850" y="1749866"/>
            <a:ext cx="5399617" cy="671297"/>
            <a:chOff x="1430867" y="3789363"/>
            <a:chExt cx="3530599" cy="67129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D35BD6F-7332-3B0F-7139-3E47F53FA729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DE31F4F-9DC5-4CA8-2190-82FD4607DF37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7410ADD-0B8B-5269-A48C-41565D11A963}"/>
              </a:ext>
            </a:extLst>
          </p:cNvPr>
          <p:cNvGrpSpPr/>
          <p:nvPr/>
        </p:nvGrpSpPr>
        <p:grpSpPr>
          <a:xfrm>
            <a:off x="6457420" y="1749866"/>
            <a:ext cx="5399617" cy="671297"/>
            <a:chOff x="1430867" y="3789363"/>
            <a:chExt cx="3530599" cy="67129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ED0BA75-E207-60A5-913A-19656440673B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9817AD1-313C-AE8A-1DAF-8AE3433D6025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324AF4B-DF69-AAE7-8B63-DEEAE43BE3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9359" y="1831975"/>
            <a:ext cx="3979862" cy="4365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Title of this column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019ECF9-2E7C-EADC-B782-FAC6CB78CF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3957" y="1826065"/>
            <a:ext cx="3979862" cy="4365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Title of this column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1A0BE1-0B47-23A7-E8FD-13A80A245BD0}"/>
              </a:ext>
            </a:extLst>
          </p:cNvPr>
          <p:cNvSpPr txBox="1"/>
          <p:nvPr userDrawn="1"/>
        </p:nvSpPr>
        <p:spPr>
          <a:xfrm>
            <a:off x="996188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4101960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ext four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934331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090" y="635420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735C46-819B-09C7-4C8E-9933DF52E3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850" y="2632830"/>
            <a:ext cx="5399617" cy="1549703"/>
          </a:xfr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Bullet points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98AEB1E-2CB2-4BAE-C2BB-F80F832128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57420" y="2641600"/>
            <a:ext cx="5399618" cy="1549703"/>
          </a:xfr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Bullet points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E3AC1E3-C2FF-473A-214E-838D1EFB8B5E}"/>
              </a:ext>
            </a:extLst>
          </p:cNvPr>
          <p:cNvGrpSpPr/>
          <p:nvPr/>
        </p:nvGrpSpPr>
        <p:grpSpPr>
          <a:xfrm>
            <a:off x="323850" y="1749866"/>
            <a:ext cx="5399617" cy="671297"/>
            <a:chOff x="1430867" y="3789363"/>
            <a:chExt cx="3530599" cy="671297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D35BD6F-7332-3B0F-7139-3E47F53FA729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DE31F4F-9DC5-4CA8-2190-82FD4607DF37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7410ADD-0B8B-5269-A48C-41565D11A963}"/>
              </a:ext>
            </a:extLst>
          </p:cNvPr>
          <p:cNvGrpSpPr/>
          <p:nvPr/>
        </p:nvGrpSpPr>
        <p:grpSpPr>
          <a:xfrm>
            <a:off x="6457420" y="1749866"/>
            <a:ext cx="5399617" cy="671297"/>
            <a:chOff x="1430867" y="3789363"/>
            <a:chExt cx="3530599" cy="671297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ED0BA75-E207-60A5-913A-19656440673B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9817AD1-313C-AE8A-1DAF-8AE3433D6025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324AF4B-DF69-AAE7-8B63-DEEAE43BE3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9359" y="1831975"/>
            <a:ext cx="3979862" cy="4365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Title of this column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019ECF9-2E7C-EADC-B782-FAC6CB78CF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3957" y="1826065"/>
            <a:ext cx="3979862" cy="4365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Title of this column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C15C1CF-E9B2-9055-0306-126DF4625B8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23849" y="5074267"/>
            <a:ext cx="5399617" cy="1549703"/>
          </a:xfr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Bullet points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B6751D9A-281E-78BA-E7D2-43297E712B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57419" y="5083037"/>
            <a:ext cx="5399618" cy="1549703"/>
          </a:xfr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GB" dirty="0"/>
              <a:t>Bullet points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EC7A76-2FCB-26DA-7D7E-91E2E52EEBC5}"/>
              </a:ext>
            </a:extLst>
          </p:cNvPr>
          <p:cNvGrpSpPr/>
          <p:nvPr userDrawn="1"/>
        </p:nvGrpSpPr>
        <p:grpSpPr>
          <a:xfrm>
            <a:off x="323849" y="4191303"/>
            <a:ext cx="5399617" cy="671297"/>
            <a:chOff x="1430867" y="3789363"/>
            <a:chExt cx="3530599" cy="67129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52A690C-A1D9-E07E-BA2D-FC6C1F954A09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DEB6E4A1-4D5D-59C7-E258-88E3FD13D29E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45D2DB-5F4B-9DA0-B825-DF7D6B563D75}"/>
              </a:ext>
            </a:extLst>
          </p:cNvPr>
          <p:cNvGrpSpPr/>
          <p:nvPr userDrawn="1"/>
        </p:nvGrpSpPr>
        <p:grpSpPr>
          <a:xfrm>
            <a:off x="6457419" y="4191303"/>
            <a:ext cx="5399617" cy="671297"/>
            <a:chOff x="1430867" y="3789363"/>
            <a:chExt cx="3530599" cy="671297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06210F08-19AE-4AEE-FD78-4A1FDC2CEA4F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DC9902F-D887-E9AC-1061-3AEB666CCF6E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106FEC4C-B795-F797-476B-1E62674A89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358" y="4273412"/>
            <a:ext cx="3979862" cy="4365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Title of this column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BC16C5F7-722B-211A-908E-5133D92A46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73956" y="4267502"/>
            <a:ext cx="3979862" cy="436563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GB" dirty="0"/>
              <a:t>Title of this column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E7B40F-26B2-35ED-B4FD-6CC42CC2EAE8}"/>
              </a:ext>
            </a:extLst>
          </p:cNvPr>
          <p:cNvSpPr txBox="1"/>
          <p:nvPr userDrawn="1"/>
        </p:nvSpPr>
        <p:spPr>
          <a:xfrm>
            <a:off x="995553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3335379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s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924173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790" y="635420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F57AA79-582B-6141-16DF-8F2A702C7E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0038" y="1947863"/>
            <a:ext cx="11557000" cy="4206875"/>
          </a:xfrm>
        </p:spPr>
        <p:txBody>
          <a:bodyPr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498D08-4EE5-A312-AC9D-7C2E2875975F}"/>
              </a:ext>
            </a:extLst>
          </p:cNvPr>
          <p:cNvSpPr txBox="1"/>
          <p:nvPr userDrawn="1"/>
        </p:nvSpPr>
        <p:spPr>
          <a:xfrm>
            <a:off x="9974580" y="634365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3169781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924173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3840" y="6350000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F57AA79-582B-6141-16DF-8F2A702C7E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0038" y="1947863"/>
            <a:ext cx="5347229" cy="4206875"/>
          </a:xfrm>
        </p:spPr>
        <p:txBody>
          <a:bodyPr/>
          <a:lstStyle/>
          <a:p>
            <a:endParaRPr lang="en-GB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6E8EBAB4-B70A-A635-F652-A55698B60C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509809" y="1947863"/>
            <a:ext cx="5347229" cy="420687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F5CE45-3D8E-E572-35E7-C095A584A14F}"/>
              </a:ext>
            </a:extLst>
          </p:cNvPr>
          <p:cNvSpPr txBox="1"/>
          <p:nvPr userDrawn="1"/>
        </p:nvSpPr>
        <p:spPr>
          <a:xfrm>
            <a:off x="9968230" y="6333093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2380337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s 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276" y="924173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090" y="635420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F57AA79-582B-6141-16DF-8F2A702C7E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00038" y="1947863"/>
            <a:ext cx="3670829" cy="4206875"/>
          </a:xfrm>
        </p:spPr>
        <p:txBody>
          <a:bodyPr/>
          <a:lstStyle/>
          <a:p>
            <a:endParaRPr lang="en-GB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6E8EBAB4-B70A-A635-F652-A55698B60C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45504" y="1947863"/>
            <a:ext cx="3670829" cy="4206875"/>
          </a:xfrm>
        </p:spPr>
        <p:txBody>
          <a:bodyPr/>
          <a:lstStyle/>
          <a:p>
            <a:endParaRPr lang="en-GB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CD5A59F8-7461-7349-9879-4D7A26D14B2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86209" y="1947863"/>
            <a:ext cx="3670829" cy="420687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D56109-5B2F-0317-0CBD-B1B6730E0D3D}"/>
              </a:ext>
            </a:extLst>
          </p:cNvPr>
          <p:cNvSpPr txBox="1"/>
          <p:nvPr userDrawn="1"/>
        </p:nvSpPr>
        <p:spPr>
          <a:xfrm>
            <a:off x="995553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28518167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zation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908050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090" y="635420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CE04FD64-8B3E-9165-D629-99EF983FEE4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00038" y="1736478"/>
            <a:ext cx="11557000" cy="4600822"/>
          </a:xfrm>
        </p:spPr>
        <p:txBody>
          <a:bodyPr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692357-E2AD-DB3F-B3DD-61CE8A9FFD6D}"/>
              </a:ext>
            </a:extLst>
          </p:cNvPr>
          <p:cNvSpPr txBox="1"/>
          <p:nvPr userDrawn="1"/>
        </p:nvSpPr>
        <p:spPr>
          <a:xfrm>
            <a:off x="996188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2306825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276" y="908050"/>
            <a:ext cx="11561762" cy="8284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GB" dirty="0"/>
            </a:lvl1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7490" y="635420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5B56A05F-5BAB-40B6-3169-CBF35EB21135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00038" y="1736478"/>
            <a:ext cx="11561762" cy="4486522"/>
          </a:xfrm>
        </p:spPr>
        <p:txBody>
          <a:bodyPr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10988-6622-7B7C-3E59-7ECA5AB3DCC3}"/>
              </a:ext>
            </a:extLst>
          </p:cNvPr>
          <p:cNvSpPr txBox="1"/>
          <p:nvPr userDrawn="1"/>
        </p:nvSpPr>
        <p:spPr>
          <a:xfrm>
            <a:off x="995553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1535783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Visualization chart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5276" y="908050"/>
            <a:ext cx="11561762" cy="82842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GB" dirty="0"/>
            </a:lvl1pPr>
          </a:lstStyle>
          <a:p>
            <a:pPr lvl="0"/>
            <a:r>
              <a:rPr lang="en-GB" dirty="0"/>
              <a:t>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3040" y="635420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5B56A05F-5BAB-40B6-3169-CBF35EB21135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00038" y="1753714"/>
            <a:ext cx="5417368" cy="4488536"/>
          </a:xfrm>
        </p:spPr>
        <p:txBody>
          <a:bodyPr/>
          <a:lstStyle/>
          <a:p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10988-6622-7B7C-3E59-7ECA5AB3DCC3}"/>
              </a:ext>
            </a:extLst>
          </p:cNvPr>
          <p:cNvSpPr txBox="1"/>
          <p:nvPr userDrawn="1"/>
        </p:nvSpPr>
        <p:spPr>
          <a:xfrm>
            <a:off x="996188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  <p:sp>
        <p:nvSpPr>
          <p:cNvPr id="3" name="Chart Placeholder 6">
            <a:extLst>
              <a:ext uri="{FF2B5EF4-FFF2-40B4-BE49-F238E27FC236}">
                <a16:creationId xmlns:a16="http://schemas.microsoft.com/office/drawing/2014/main" id="{DFC23E43-5B06-3322-5FF2-8B03C3B9E28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439670" y="1753714"/>
            <a:ext cx="5417368" cy="4508237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084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9">
            <a:extLst>
              <a:ext uri="{FF2B5EF4-FFF2-40B4-BE49-F238E27FC236}">
                <a16:creationId xmlns:a16="http://schemas.microsoft.com/office/drawing/2014/main" id="{3F7B265C-7AE5-56D2-7A4A-3B2A0D817547}"/>
              </a:ext>
            </a:extLst>
          </p:cNvPr>
          <p:cNvSpPr/>
          <p:nvPr userDrawn="1"/>
        </p:nvSpPr>
        <p:spPr>
          <a:xfrm>
            <a:off x="320675" y="908051"/>
            <a:ext cx="11550650" cy="5949950"/>
          </a:xfrm>
          <a:prstGeom prst="roundRect">
            <a:avLst>
              <a:gd name="adj" fmla="val 9907"/>
            </a:avLst>
          </a:prstGeom>
          <a:gradFill>
            <a:gsLst>
              <a:gs pos="0">
                <a:srgbClr val="5E8AA7"/>
              </a:gs>
              <a:gs pos="16000">
                <a:srgbClr val="618BA5"/>
              </a:gs>
              <a:gs pos="79000">
                <a:srgbClr val="DAAE7D"/>
              </a:gs>
              <a:gs pos="100000">
                <a:srgbClr val="DAAF7D"/>
              </a:gs>
            </a:gsLst>
            <a:lin ang="7048150" scaled="1"/>
          </a:gradFill>
          <a:ln w="12672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59DB5428-703A-9A8D-8262-00E0C7A296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48126" y="5479094"/>
            <a:ext cx="12276000" cy="138512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2090" y="636723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Quote Mark">
            <a:extLst>
              <a:ext uri="{FF2B5EF4-FFF2-40B4-BE49-F238E27FC236}">
                <a16:creationId xmlns:a16="http://schemas.microsoft.com/office/drawing/2014/main" id="{7A2D54AB-7624-4BB6-799E-7EAA7D53F18B}"/>
              </a:ext>
            </a:extLst>
          </p:cNvPr>
          <p:cNvSpPr txBox="1"/>
          <p:nvPr userDrawn="1"/>
        </p:nvSpPr>
        <p:spPr>
          <a:xfrm>
            <a:off x="1280160" y="1737360"/>
            <a:ext cx="1828800" cy="1188720"/>
          </a:xfrm>
          <a:prstGeom prst="rect">
            <a:avLst/>
          </a:prstGeom>
        </p:spPr>
        <p:txBody>
          <a:bodyPr wrap="none" anchor="t">
            <a:normAutofit fontScale="70000" lnSpcReduction="20000"/>
          </a:bodyPr>
          <a:lstStyle/>
          <a:p>
            <a:pPr algn="l"/>
            <a:r>
              <a:rPr lang="en-GB" sz="12000" b="1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8" name="Attribution Rule">
            <a:extLst>
              <a:ext uri="{FF2B5EF4-FFF2-40B4-BE49-F238E27FC236}">
                <a16:creationId xmlns:a16="http://schemas.microsoft.com/office/drawing/2014/main" id="{22B1735D-EEBD-8CDD-A7A3-EB7672B62192}"/>
              </a:ext>
            </a:extLst>
          </p:cNvPr>
          <p:cNvSpPr/>
          <p:nvPr userDrawn="1"/>
        </p:nvSpPr>
        <p:spPr>
          <a:xfrm>
            <a:off x="1371600" y="4663440"/>
            <a:ext cx="54864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02277EC-ECB5-FC4B-0E9A-05D632B8DD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0325" y="2238375"/>
            <a:ext cx="9480550" cy="2381249"/>
          </a:xfrm>
        </p:spPr>
        <p:txBody>
          <a:bodyPr/>
          <a:lstStyle>
            <a:lvl1pPr>
              <a:defRPr b="0" i="0"/>
            </a:lvl1pPr>
          </a:lstStyle>
          <a:p>
            <a:r>
              <a:rPr lang="en-GB" sz="4000" i="1" dirty="0"/>
              <a:t>Add the quotation here. Keep it short, punchy and memorable — two lines work best on this layout.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199A2D1-4529-E2EA-EED9-0A9BF9D50D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30325" y="4779483"/>
            <a:ext cx="2509520" cy="269875"/>
          </a:xfrm>
        </p:spPr>
        <p:txBody>
          <a:bodyPr/>
          <a:lstStyle>
            <a:lvl1pPr>
              <a:buNone/>
              <a:defRPr sz="2000" b="1"/>
            </a:lvl1pPr>
          </a:lstStyle>
          <a:p>
            <a:pPr lvl="0"/>
            <a:r>
              <a:rPr lang="en-GB" dirty="0"/>
              <a:t>AUTHOR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0373608-211A-1C03-0824-06CF0AF72F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0325" y="5074279"/>
            <a:ext cx="2509520" cy="269875"/>
          </a:xfrm>
        </p:spPr>
        <p:txBody>
          <a:bodyPr>
            <a:noAutofit/>
          </a:bodyPr>
          <a:lstStyle>
            <a:lvl1pPr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Year, Source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F332D0-4551-DE6F-3804-DC938ED13B9F}"/>
              </a:ext>
            </a:extLst>
          </p:cNvPr>
          <p:cNvSpPr txBox="1"/>
          <p:nvPr userDrawn="1"/>
        </p:nvSpPr>
        <p:spPr>
          <a:xfrm>
            <a:off x="9936794" y="633095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2250013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2B5333-D927-A147-12CD-81C124EB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6640" y="6367237"/>
            <a:ext cx="715010" cy="365125"/>
          </a:xfrm>
          <a:prstGeom prst="rect">
            <a:avLst/>
          </a:prstGeom>
        </p:spPr>
        <p:txBody>
          <a:bodyPr/>
          <a:lstStyle/>
          <a:p>
            <a:fld id="{F34EF763-FEF5-41B7-B3EE-DB7F8F9EC2F0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44071DC-6E9C-C9FB-53BB-237E1B2C19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038" y="908050"/>
            <a:ext cx="11557001" cy="545918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DE84FE44-8E9E-AED1-2B3E-A3CB7CA507A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8126" y="5479094"/>
            <a:ext cx="12276000" cy="1385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9F5A1F-0AD5-CE3A-DD08-CC4D36A353B9}"/>
              </a:ext>
            </a:extLst>
          </p:cNvPr>
          <p:cNvSpPr txBox="1"/>
          <p:nvPr userDrawn="1"/>
        </p:nvSpPr>
        <p:spPr>
          <a:xfrm>
            <a:off x="970280" y="2057400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QUESTIONS?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B49B40-821A-1171-A07B-F4D4D53E944C}"/>
              </a:ext>
            </a:extLst>
          </p:cNvPr>
          <p:cNvSpPr txBox="1"/>
          <p:nvPr userDrawn="1"/>
        </p:nvSpPr>
        <p:spPr>
          <a:xfrm>
            <a:off x="9974100" y="633095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#BalticSummit2026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639957D4-B665-9463-5718-CED0B0A9B337}"/>
              </a:ext>
            </a:extLst>
          </p:cNvPr>
          <p:cNvSpPr txBox="1">
            <a:spLocks/>
          </p:cNvSpPr>
          <p:nvPr userDrawn="1"/>
        </p:nvSpPr>
        <p:spPr>
          <a:xfrm>
            <a:off x="225427" y="6360722"/>
            <a:ext cx="715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F34EF763-FEF5-41B7-B3EE-DB7F8F9EC2F0}" type="slidenum">
              <a:rPr lang="en-GB" smtClean="0"/>
              <a:pPr algn="l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5811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8DB0600-BC5F-4933-76D7-5FE95852AA47}"/>
              </a:ext>
            </a:extLst>
          </p:cNvPr>
          <p:cNvSpPr txBox="1"/>
          <p:nvPr userDrawn="1"/>
        </p:nvSpPr>
        <p:spPr>
          <a:xfrm>
            <a:off x="300038" y="730636"/>
            <a:ext cx="11557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THANK YOU FOR PARTICIPATION</a:t>
            </a:r>
          </a:p>
        </p:txBody>
      </p:sp>
      <p:sp>
        <p:nvSpPr>
          <p:cNvPr id="14" name="Picture Placeholder 54">
            <a:extLst>
              <a:ext uri="{FF2B5EF4-FFF2-40B4-BE49-F238E27FC236}">
                <a16:creationId xmlns:a16="http://schemas.microsoft.com/office/drawing/2014/main" id="{1404DB20-EBF6-DC77-4A72-1E185AE66DC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20438" y="4326759"/>
            <a:ext cx="2179203" cy="201940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GB" dirty="0"/>
              <a:t>QR code</a:t>
            </a:r>
          </a:p>
        </p:txBody>
      </p:sp>
      <p:sp>
        <p:nvSpPr>
          <p:cNvPr id="17" name="Picture Placeholder 57">
            <a:extLst>
              <a:ext uri="{FF2B5EF4-FFF2-40B4-BE49-F238E27FC236}">
                <a16:creationId xmlns:a16="http://schemas.microsoft.com/office/drawing/2014/main" id="{8F25B497-5265-2E02-A44F-78961DC6A12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32346" y="1453866"/>
            <a:ext cx="2155389" cy="2011578"/>
          </a:xfrm>
        </p:spPr>
        <p:txBody>
          <a:bodyPr anchor="t"/>
          <a:lstStyle>
            <a:lvl1pPr marL="0" indent="0" algn="ctr">
              <a:buNone/>
              <a:defRPr sz="2000"/>
            </a:lvl1pPr>
          </a:lstStyle>
          <a:p>
            <a:r>
              <a:rPr lang="en-GB" dirty="0"/>
              <a:t>YOUR PHOTO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0310364-F339-E1A0-E378-7C921C7CA11F}"/>
              </a:ext>
            </a:extLst>
          </p:cNvPr>
          <p:cNvGrpSpPr/>
          <p:nvPr userDrawn="1"/>
        </p:nvGrpSpPr>
        <p:grpSpPr>
          <a:xfrm>
            <a:off x="400345" y="3573128"/>
            <a:ext cx="3151378" cy="671297"/>
            <a:chOff x="1430867" y="3789363"/>
            <a:chExt cx="3530599" cy="671297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4042650-3238-BE53-1061-70150E7A822D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DC4A4A65-E30C-B763-9989-B9DB2760B76C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sp>
        <p:nvSpPr>
          <p:cNvPr id="24" name="Picture Placeholder 54">
            <a:extLst>
              <a:ext uri="{FF2B5EF4-FFF2-40B4-BE49-F238E27FC236}">
                <a16:creationId xmlns:a16="http://schemas.microsoft.com/office/drawing/2014/main" id="{270AAF3F-50A1-C5B2-C03D-8BDEE2BD3B4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006397" y="4326759"/>
            <a:ext cx="2179203" cy="201940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GB" dirty="0"/>
              <a:t>QR code</a:t>
            </a:r>
          </a:p>
        </p:txBody>
      </p:sp>
      <p:sp>
        <p:nvSpPr>
          <p:cNvPr id="25" name="Picture Placeholder 57">
            <a:extLst>
              <a:ext uri="{FF2B5EF4-FFF2-40B4-BE49-F238E27FC236}">
                <a16:creationId xmlns:a16="http://schemas.microsoft.com/office/drawing/2014/main" id="{093CB284-B12A-047E-910F-893C4876A68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018305" y="1453866"/>
            <a:ext cx="2155389" cy="2011578"/>
          </a:xfrm>
        </p:spPr>
        <p:txBody>
          <a:bodyPr anchor="t"/>
          <a:lstStyle>
            <a:lvl1pPr marL="0" indent="0" algn="ctr">
              <a:buNone/>
              <a:defRPr sz="2000"/>
            </a:lvl1pPr>
          </a:lstStyle>
          <a:p>
            <a:r>
              <a:rPr lang="en-GB" dirty="0"/>
              <a:t>YOUR PHOTO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6831833-1DAA-5D00-65D7-CE8771D21811}"/>
              </a:ext>
            </a:extLst>
          </p:cNvPr>
          <p:cNvGrpSpPr/>
          <p:nvPr userDrawn="1"/>
        </p:nvGrpSpPr>
        <p:grpSpPr>
          <a:xfrm>
            <a:off x="4486304" y="3573128"/>
            <a:ext cx="3151378" cy="671297"/>
            <a:chOff x="1430867" y="3789363"/>
            <a:chExt cx="3530599" cy="671297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325CF372-D88B-7E7D-68E4-DB8568D449C9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C39ED7A7-4061-B844-3800-38E8CA917366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sp>
        <p:nvSpPr>
          <p:cNvPr id="29" name="Picture Placeholder 54">
            <a:extLst>
              <a:ext uri="{FF2B5EF4-FFF2-40B4-BE49-F238E27FC236}">
                <a16:creationId xmlns:a16="http://schemas.microsoft.com/office/drawing/2014/main" id="{744D4D96-AC90-F796-CDA4-C238882828F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160370" y="4321026"/>
            <a:ext cx="2179203" cy="201940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GB" dirty="0"/>
              <a:t>QR code</a:t>
            </a:r>
          </a:p>
        </p:txBody>
      </p:sp>
      <p:sp>
        <p:nvSpPr>
          <p:cNvPr id="30" name="Picture Placeholder 57">
            <a:extLst>
              <a:ext uri="{FF2B5EF4-FFF2-40B4-BE49-F238E27FC236}">
                <a16:creationId xmlns:a16="http://schemas.microsoft.com/office/drawing/2014/main" id="{CE9A72A2-1927-3811-D064-8F2ABDD108D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172278" y="1448133"/>
            <a:ext cx="2155389" cy="2011578"/>
          </a:xfrm>
        </p:spPr>
        <p:txBody>
          <a:bodyPr anchor="t"/>
          <a:lstStyle>
            <a:lvl1pPr marL="0" indent="0" algn="ctr">
              <a:buNone/>
              <a:defRPr sz="2000"/>
            </a:lvl1pPr>
          </a:lstStyle>
          <a:p>
            <a:r>
              <a:rPr lang="en-GB" dirty="0"/>
              <a:t>YOUR PHOTO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828C880-DD37-EB0E-2914-5716B0EEA37D}"/>
              </a:ext>
            </a:extLst>
          </p:cNvPr>
          <p:cNvGrpSpPr/>
          <p:nvPr userDrawn="1"/>
        </p:nvGrpSpPr>
        <p:grpSpPr>
          <a:xfrm>
            <a:off x="8640277" y="3567395"/>
            <a:ext cx="3151378" cy="671297"/>
            <a:chOff x="1430867" y="3789363"/>
            <a:chExt cx="3530599" cy="671297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D5BA4F6-DFB2-19DB-55C6-EEFE6B39A0D6}"/>
                </a:ext>
              </a:extLst>
            </p:cNvPr>
            <p:cNvSpPr/>
            <p:nvPr userDrawn="1"/>
          </p:nvSpPr>
          <p:spPr>
            <a:xfrm>
              <a:off x="1507066" y="3871697"/>
              <a:ext cx="3454400" cy="588963"/>
            </a:xfrm>
            <a:prstGeom prst="roundRect">
              <a:avLst>
                <a:gd name="adj" fmla="val 44191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5A5D1ED2-C0B2-01A2-A336-08F08A9634CF}"/>
                </a:ext>
              </a:extLst>
            </p:cNvPr>
            <p:cNvSpPr/>
            <p:nvPr userDrawn="1"/>
          </p:nvSpPr>
          <p:spPr>
            <a:xfrm>
              <a:off x="1430867" y="3789363"/>
              <a:ext cx="3454400" cy="588963"/>
            </a:xfrm>
            <a:prstGeom prst="roundRect">
              <a:avLst>
                <a:gd name="adj" fmla="val 44191"/>
              </a:avLst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/>
            </a:p>
          </p:txBody>
        </p:sp>
      </p:grp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6BB3687-4043-66B0-E914-499880C9394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0345" y="3680813"/>
            <a:ext cx="3151378" cy="588962"/>
          </a:xfrm>
        </p:spPr>
        <p:txBody>
          <a:bodyPr>
            <a:normAutofit/>
          </a:bodyPr>
          <a:lstStyle>
            <a:lvl1pPr algn="ctr">
              <a:buNone/>
              <a:defRPr sz="2000"/>
            </a:lvl1pPr>
            <a:lvl5pPr>
              <a:defRPr/>
            </a:lvl5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38" name="Text Placeholder 36">
            <a:extLst>
              <a:ext uri="{FF2B5EF4-FFF2-40B4-BE49-F238E27FC236}">
                <a16:creationId xmlns:a16="http://schemas.microsoft.com/office/drawing/2014/main" id="{97750E1B-D631-541E-8C8A-8A706BA168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86304" y="3680813"/>
            <a:ext cx="3151378" cy="588962"/>
          </a:xfrm>
        </p:spPr>
        <p:txBody>
          <a:bodyPr>
            <a:normAutofit/>
          </a:bodyPr>
          <a:lstStyle>
            <a:lvl1pPr algn="ctr">
              <a:buNone/>
              <a:defRPr sz="2000"/>
            </a:lvl1pPr>
            <a:lvl5pPr>
              <a:defRPr/>
            </a:lvl5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39" name="Text Placeholder 36">
            <a:extLst>
              <a:ext uri="{FF2B5EF4-FFF2-40B4-BE49-F238E27FC236}">
                <a16:creationId xmlns:a16="http://schemas.microsoft.com/office/drawing/2014/main" id="{EB8F2933-C5CF-D65E-5BB0-7B6D5441644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08291" y="3690897"/>
            <a:ext cx="3083364" cy="588962"/>
          </a:xfrm>
        </p:spPr>
        <p:txBody>
          <a:bodyPr>
            <a:normAutofit/>
          </a:bodyPr>
          <a:lstStyle>
            <a:lvl1pPr algn="ctr">
              <a:buNone/>
              <a:defRPr sz="2000"/>
            </a:lvl1pPr>
            <a:lvl5pPr>
              <a:defRPr/>
            </a:lvl5pPr>
          </a:lstStyle>
          <a:p>
            <a:pPr lvl="0"/>
            <a:r>
              <a:rPr lang="en-GB" dirty="0"/>
              <a:t>NAME</a:t>
            </a:r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4D226A5E-4B59-66F0-B263-68A600A6A1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12090" y="636723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6162DF-2008-4B0C-2B7B-19DF5252115C}"/>
              </a:ext>
            </a:extLst>
          </p:cNvPr>
          <p:cNvSpPr txBox="1"/>
          <p:nvPr userDrawn="1"/>
        </p:nvSpPr>
        <p:spPr>
          <a:xfrm>
            <a:off x="996188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1884691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4F1E01-FC0B-F4DC-D703-141729ABB8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12090" y="636723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Picture 4" descr="The image shows a person holding a smartphone with a sandy beach background, displaying a schedule for the Baltic Summit 2025, featuring speakers and sponsors.&#10;&#10;AI-generated content may be incorrect.">
            <a:extLst>
              <a:ext uri="{FF2B5EF4-FFF2-40B4-BE49-F238E27FC236}">
                <a16:creationId xmlns:a16="http://schemas.microsoft.com/office/drawing/2014/main" id="{0D60EFDB-304A-D68F-2B67-43C7230542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3507" t="154" r="22949"/>
          <a:stretch>
            <a:fillRect/>
          </a:stretch>
        </p:blipFill>
        <p:spPr>
          <a:xfrm>
            <a:off x="7064942" y="1132373"/>
            <a:ext cx="3869356" cy="4849260"/>
          </a:xfrm>
          <a:custGeom>
            <a:avLst/>
            <a:gdLst>
              <a:gd name="connsiteX0" fmla="*/ 836523 w 5019040"/>
              <a:gd name="connsiteY0" fmla="*/ 0 h 6290098"/>
              <a:gd name="connsiteX1" fmla="*/ 4182517 w 5019040"/>
              <a:gd name="connsiteY1" fmla="*/ 0 h 6290098"/>
              <a:gd name="connsiteX2" fmla="*/ 5019040 w 5019040"/>
              <a:gd name="connsiteY2" fmla="*/ 836523 h 6290098"/>
              <a:gd name="connsiteX3" fmla="*/ 5019040 w 5019040"/>
              <a:gd name="connsiteY3" fmla="*/ 5453575 h 6290098"/>
              <a:gd name="connsiteX4" fmla="*/ 4182517 w 5019040"/>
              <a:gd name="connsiteY4" fmla="*/ 6290098 h 6290098"/>
              <a:gd name="connsiteX5" fmla="*/ 836523 w 5019040"/>
              <a:gd name="connsiteY5" fmla="*/ 6290098 h 6290098"/>
              <a:gd name="connsiteX6" fmla="*/ 0 w 5019040"/>
              <a:gd name="connsiteY6" fmla="*/ 5453575 h 6290098"/>
              <a:gd name="connsiteX7" fmla="*/ 0 w 5019040"/>
              <a:gd name="connsiteY7" fmla="*/ 836523 h 6290098"/>
              <a:gd name="connsiteX8" fmla="*/ 836523 w 5019040"/>
              <a:gd name="connsiteY8" fmla="*/ 0 h 6290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19040" h="6290098">
                <a:moveTo>
                  <a:pt x="836523" y="0"/>
                </a:moveTo>
                <a:lnTo>
                  <a:pt x="4182517" y="0"/>
                </a:lnTo>
                <a:cubicBezTo>
                  <a:pt x="4644516" y="0"/>
                  <a:pt x="5019040" y="374524"/>
                  <a:pt x="5019040" y="836523"/>
                </a:cubicBezTo>
                <a:lnTo>
                  <a:pt x="5019040" y="5453575"/>
                </a:lnTo>
                <a:cubicBezTo>
                  <a:pt x="5019040" y="5915574"/>
                  <a:pt x="4644516" y="6290098"/>
                  <a:pt x="4182517" y="6290098"/>
                </a:cubicBezTo>
                <a:lnTo>
                  <a:pt x="836523" y="6290098"/>
                </a:lnTo>
                <a:cubicBezTo>
                  <a:pt x="374524" y="6290098"/>
                  <a:pt x="0" y="5915574"/>
                  <a:pt x="0" y="5453575"/>
                </a:cubicBezTo>
                <a:lnTo>
                  <a:pt x="0" y="836523"/>
                </a:lnTo>
                <a:cubicBezTo>
                  <a:pt x="0" y="374524"/>
                  <a:pt x="374524" y="0"/>
                  <a:pt x="836523" y="0"/>
                </a:cubicBezTo>
                <a:close/>
              </a:path>
            </a:pathLst>
          </a:custGeom>
          <a:ln>
            <a:noFill/>
          </a:ln>
          <a:effectLst/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AC2A83A-094F-3440-6B87-6E55E2944D2F}"/>
              </a:ext>
            </a:extLst>
          </p:cNvPr>
          <p:cNvGrpSpPr/>
          <p:nvPr userDrawn="1"/>
        </p:nvGrpSpPr>
        <p:grpSpPr>
          <a:xfrm>
            <a:off x="818147" y="3695927"/>
            <a:ext cx="5574632" cy="1446530"/>
            <a:chOff x="673768" y="3503422"/>
            <a:chExt cx="5574632" cy="144653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C096D09-9D21-788F-57D4-AC6CBA120D96}"/>
                </a:ext>
              </a:extLst>
            </p:cNvPr>
            <p:cNvSpPr/>
            <p:nvPr userDrawn="1"/>
          </p:nvSpPr>
          <p:spPr>
            <a:xfrm>
              <a:off x="826168" y="3713574"/>
              <a:ext cx="5422232" cy="1236378"/>
            </a:xfrm>
            <a:prstGeom prst="roundRect">
              <a:avLst>
                <a:gd name="adj" fmla="val 36129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815CA2-F423-0FB2-E468-1092AA2EA9E6}"/>
                </a:ext>
              </a:extLst>
            </p:cNvPr>
            <p:cNvGrpSpPr/>
            <p:nvPr userDrawn="1"/>
          </p:nvGrpSpPr>
          <p:grpSpPr>
            <a:xfrm>
              <a:off x="673768" y="3503422"/>
              <a:ext cx="5422232" cy="1236378"/>
              <a:chOff x="673768" y="3503422"/>
              <a:chExt cx="5422232" cy="1236378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F04B06C3-77CB-2E7A-9A9D-C232D444B5A5}"/>
                  </a:ext>
                </a:extLst>
              </p:cNvPr>
              <p:cNvSpPr/>
              <p:nvPr userDrawn="1"/>
            </p:nvSpPr>
            <p:spPr>
              <a:xfrm>
                <a:off x="673768" y="3503422"/>
                <a:ext cx="5422232" cy="1236378"/>
              </a:xfrm>
              <a:prstGeom prst="roundRect">
                <a:avLst>
                  <a:gd name="adj" fmla="val 36129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7" name="Picture 6" descr="run.events&#10;&#10;AI-generated content may be incorrect.">
                <a:extLst>
                  <a:ext uri="{FF2B5EF4-FFF2-40B4-BE49-F238E27FC236}">
                    <a16:creationId xmlns:a16="http://schemas.microsoft.com/office/drawing/2014/main" id="{F80A52D4-1F57-FBFD-312B-61AFA31FE36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994634" y="3557003"/>
                <a:ext cx="4725981" cy="1129217"/>
              </a:xfrm>
              <a:prstGeom prst="rect">
                <a:avLst/>
              </a:prstGeom>
            </p:spPr>
          </p:pic>
        </p:grp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7B96A91-22E4-42D4-BC39-0ED23E87DA65}"/>
              </a:ext>
            </a:extLst>
          </p:cNvPr>
          <p:cNvSpPr txBox="1"/>
          <p:nvPr userDrawn="1"/>
        </p:nvSpPr>
        <p:spPr>
          <a:xfrm>
            <a:off x="1257702" y="1838634"/>
            <a:ext cx="472598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PLEASE RATE THIS SESSION IN THE APP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174CCA-871F-BEAE-CCE1-22BDB217806A}"/>
              </a:ext>
            </a:extLst>
          </p:cNvPr>
          <p:cNvSpPr txBox="1"/>
          <p:nvPr userDrawn="1"/>
        </p:nvSpPr>
        <p:spPr>
          <a:xfrm>
            <a:off x="996188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</p:spTree>
    <p:extLst>
      <p:ext uri="{BB962C8B-B14F-4D97-AF65-F5344CB8AC3E}">
        <p14:creationId xmlns:p14="http://schemas.microsoft.com/office/powerpoint/2010/main" val="2980216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3A44-E025-769F-65CC-7BA3A1FC5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0038" y="913853"/>
            <a:ext cx="11561762" cy="828428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79A4FA-81AE-5D89-F99B-9699F2F9F681}"/>
              </a:ext>
            </a:extLst>
          </p:cNvPr>
          <p:cNvSpPr txBox="1"/>
          <p:nvPr userDrawn="1"/>
        </p:nvSpPr>
        <p:spPr>
          <a:xfrm>
            <a:off x="9961880" y="6337300"/>
            <a:ext cx="229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#BalticSummit2026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DBEA482-330E-1BAB-4414-3F2992B23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12090" y="6367237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algn="l"/>
            <a:fld id="{F34EF763-FEF5-41B7-B3EE-DB7F8F9EC2F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5838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svg"/><Relationship Id="rId2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9D9D9"/>
            </a:gs>
            <a:gs pos="100000">
              <a:srgbClr val="FFFFFF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8C1DEF-6B0D-A189-C0E4-8E9220405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8" y="812253"/>
            <a:ext cx="11561762" cy="828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2AFF1-BB63-08B2-622C-D22C414DB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850" y="1640681"/>
            <a:ext cx="11531600" cy="3696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8B1296B-79ED-5E0B-4B10-6C9D520298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648315" y="352095"/>
            <a:ext cx="1207135" cy="36791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159FBA83-6BB2-4DB0-F8F9-F38E83DE9CF1}"/>
              </a:ext>
            </a:extLst>
          </p:cNvPr>
          <p:cNvGrpSpPr/>
          <p:nvPr userDrawn="1"/>
        </p:nvGrpSpPr>
        <p:grpSpPr>
          <a:xfrm>
            <a:off x="-1366725" y="0"/>
            <a:ext cx="1213484" cy="4559190"/>
            <a:chOff x="-1366725" y="-271670"/>
            <a:chExt cx="1213484" cy="455919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125E5E6-8CCD-22E1-2CB9-C5466EEA2C0D}"/>
                </a:ext>
              </a:extLst>
            </p:cNvPr>
            <p:cNvSpPr/>
            <p:nvPr userDrawn="1"/>
          </p:nvSpPr>
          <p:spPr>
            <a:xfrm>
              <a:off x="-1360375" y="-271670"/>
              <a:ext cx="1207134" cy="455919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6" name="Picture 15" descr="The image displays a color wheel or palette with various color codes, including RGB, CMYK, and HEX values for colors like pure white, a vibrant orange, a teal shade, and a deep blue.&#10;&#10;AI-generated content may be incorrect.">
              <a:extLst>
                <a:ext uri="{FF2B5EF4-FFF2-40B4-BE49-F238E27FC236}">
                  <a16:creationId xmlns:a16="http://schemas.microsoft.com/office/drawing/2014/main" id="{6A73FC0B-B8B8-3872-1836-C71E507066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/>
            <a:stretch>
              <a:fillRect/>
            </a:stretch>
          </p:blipFill>
          <p:spPr>
            <a:xfrm>
              <a:off x="-1302314" y="0"/>
              <a:ext cx="1076172" cy="1813549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93BF4E7-E18A-119C-167A-5B801A10F5FF}"/>
                </a:ext>
              </a:extLst>
            </p:cNvPr>
            <p:cNvSpPr txBox="1"/>
            <p:nvPr userDrawn="1"/>
          </p:nvSpPr>
          <p:spPr>
            <a:xfrm>
              <a:off x="-1360375" y="-200025"/>
              <a:ext cx="120713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00" b="1" dirty="0"/>
                <a:t>PRIMARY COLOURS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8D0BB6D-FDEA-63B9-E14B-3DD621CD1027}"/>
                </a:ext>
              </a:extLst>
            </p:cNvPr>
            <p:cNvGrpSpPr/>
            <p:nvPr userDrawn="1"/>
          </p:nvGrpSpPr>
          <p:grpSpPr>
            <a:xfrm>
              <a:off x="-1360375" y="1899909"/>
              <a:ext cx="1207134" cy="709215"/>
              <a:chOff x="-1360375" y="1813549"/>
              <a:chExt cx="1207134" cy="709215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A8A49E-19FE-5CD8-A46F-14751E97742B}"/>
                  </a:ext>
                </a:extLst>
              </p:cNvPr>
              <p:cNvSpPr txBox="1"/>
              <p:nvPr userDrawn="1"/>
            </p:nvSpPr>
            <p:spPr>
              <a:xfrm>
                <a:off x="-1360375" y="1813549"/>
                <a:ext cx="12071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900" b="1" dirty="0"/>
                  <a:t>3 EXTRA COLOURS</a:t>
                </a:r>
              </a:p>
              <a:p>
                <a:pPr algn="ctr"/>
                <a:r>
                  <a:rPr lang="en-GB" sz="900" b="1" dirty="0"/>
                  <a:t>(use sparingly)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49C25F6-47ED-79CA-FD4A-DCA1B52988F0}"/>
                  </a:ext>
                </a:extLst>
              </p:cNvPr>
              <p:cNvSpPr/>
              <p:nvPr userDrawn="1"/>
            </p:nvSpPr>
            <p:spPr>
              <a:xfrm>
                <a:off x="-1302314" y="2249261"/>
                <a:ext cx="265450" cy="273503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4AC149C-81AA-0174-6BC3-1BA98E4607A2}"/>
                  </a:ext>
                </a:extLst>
              </p:cNvPr>
              <p:cNvSpPr/>
              <p:nvPr userDrawn="1"/>
            </p:nvSpPr>
            <p:spPr>
              <a:xfrm>
                <a:off x="-896953" y="2249261"/>
                <a:ext cx="265450" cy="273503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374C9D8-C22D-A179-FAD3-B4FD3FE4B450}"/>
                  </a:ext>
                </a:extLst>
              </p:cNvPr>
              <p:cNvSpPr/>
              <p:nvPr userDrawn="1"/>
            </p:nvSpPr>
            <p:spPr>
              <a:xfrm>
                <a:off x="-491592" y="2249261"/>
                <a:ext cx="265450" cy="27350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635058-CD6E-BF3E-F2CC-BD836A666D6B}"/>
                </a:ext>
              </a:extLst>
            </p:cNvPr>
            <p:cNvSpPr txBox="1"/>
            <p:nvPr userDrawn="1"/>
          </p:nvSpPr>
          <p:spPr>
            <a:xfrm>
              <a:off x="-1366725" y="2719785"/>
              <a:ext cx="1207134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900" b="1" dirty="0"/>
                <a:t>FONTS</a:t>
              </a:r>
            </a:p>
            <a:p>
              <a:pPr algn="ctr"/>
              <a:endParaRPr lang="en-GB" sz="900" b="1" dirty="0"/>
            </a:p>
            <a:p>
              <a:pPr algn="ctr"/>
              <a:r>
                <a:rPr lang="en-GB" sz="900" b="1" dirty="0"/>
                <a:t>GARET BOLD IN UPPERCASE FOR TITLES </a:t>
              </a:r>
            </a:p>
            <a:p>
              <a:pPr algn="ctr"/>
              <a:r>
                <a:rPr lang="en-GB" sz="900" b="1" dirty="0"/>
                <a:t>size 40</a:t>
              </a:r>
            </a:p>
            <a:p>
              <a:pPr algn="ctr"/>
              <a:endParaRPr lang="en-GB" sz="900" b="1" dirty="0"/>
            </a:p>
            <a:p>
              <a:pPr algn="ctr"/>
              <a:r>
                <a:rPr lang="en-GB" sz="900" b="0" dirty="0"/>
                <a:t>Regular Garet for everything else </a:t>
              </a:r>
            </a:p>
            <a:p>
              <a:pPr algn="ctr"/>
              <a:r>
                <a:rPr lang="en-GB" sz="900" b="0" dirty="0"/>
                <a:t>size 20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0072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76" r:id="rId5"/>
    <p:sldLayoutId id="2147483677" r:id="rId6"/>
    <p:sldLayoutId id="2147483667" r:id="rId7"/>
    <p:sldLayoutId id="2147483678" r:id="rId8"/>
    <p:sldLayoutId id="2147483679" r:id="rId9"/>
    <p:sldLayoutId id="2147483668" r:id="rId10"/>
    <p:sldLayoutId id="2147483669" r:id="rId11"/>
    <p:sldLayoutId id="2147483681" r:id="rId12"/>
    <p:sldLayoutId id="2147483671" r:id="rId13"/>
    <p:sldLayoutId id="2147483672" r:id="rId14"/>
    <p:sldLayoutId id="2147483674" r:id="rId15"/>
    <p:sldLayoutId id="2147483680" r:id="rId16"/>
    <p:sldLayoutId id="2147483675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09376E"/>
          </a:solidFill>
          <a:latin typeface="Gare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re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re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re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re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are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156" userDrawn="1">
          <p15:clr>
            <a:srgbClr val="F26B43"/>
          </p15:clr>
        </p15:guide>
        <p15:guide id="4" pos="189" userDrawn="1">
          <p15:clr>
            <a:srgbClr val="F26B43"/>
          </p15:clr>
        </p15:guide>
        <p15:guide id="5" pos="746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277DE-9176-9D61-FC02-6E8F24FDF9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FROM CHAOS TO SYMPHONY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9BDFFC-1FAA-D2F8-DFAE-6EF02E9EBD39}"/>
              </a:ext>
            </a:extLst>
          </p:cNvPr>
          <p:cNvGrpSpPr/>
          <p:nvPr/>
        </p:nvGrpSpPr>
        <p:grpSpPr>
          <a:xfrm>
            <a:off x="880533" y="3840055"/>
            <a:ext cx="4665133" cy="671297"/>
            <a:chOff x="1430867" y="4200418"/>
            <a:chExt cx="3530599" cy="671297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F6BE8C7-CFA7-4049-EA53-AE3BFDCDB296}"/>
                </a:ext>
              </a:extLst>
            </p:cNvPr>
            <p:cNvGrpSpPr/>
            <p:nvPr/>
          </p:nvGrpSpPr>
          <p:grpSpPr>
            <a:xfrm>
              <a:off x="1430867" y="3789363"/>
              <a:ext cx="3530599" cy="671297"/>
              <a:chOff x="1430867" y="3789363"/>
              <a:chExt cx="3530599" cy="671297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F0671077-3E78-63B5-7C91-176C798EAD73}"/>
                  </a:ext>
                </a:extLst>
              </p:cNvPr>
              <p:cNvSpPr/>
              <p:nvPr userDrawn="1"/>
            </p:nvSpPr>
            <p:spPr>
              <a:xfrm>
                <a:off x="1507066" y="3871697"/>
                <a:ext cx="3454400" cy="588963"/>
              </a:xfrm>
              <a:prstGeom prst="roundRect">
                <a:avLst>
                  <a:gd name="adj" fmla="val 44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D2067E9E-FA62-82E8-88C0-E898A9B2CD98}"/>
                  </a:ext>
                </a:extLst>
              </p:cNvPr>
              <p:cNvSpPr/>
              <p:nvPr userDrawn="1"/>
            </p:nvSpPr>
            <p:spPr>
              <a:xfrm>
                <a:off x="1430867" y="3789363"/>
                <a:ext cx="3454400" cy="588963"/>
              </a:xfrm>
              <a:prstGeom prst="roundRect">
                <a:avLst>
                  <a:gd name="adj" fmla="val 44191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7" name="Text Placeholder 17">
              <a:extLst>
                <a:ext uri="{FF2B5EF4-FFF2-40B4-BE49-F238E27FC236}">
                  <a16:creationId xmlns:a16="http://schemas.microsoft.com/office/drawing/2014/main" id="{E35E01E4-8CD5-AF37-523E-0AA4C915B81C}"/>
                </a:ext>
              </a:extLst>
            </p:cNvPr>
            <p:cNvSpPr txBox="1">
              <a:spLocks/>
            </p:cNvSpPr>
            <p:nvPr/>
          </p:nvSpPr>
          <p:spPr>
            <a:xfrm>
              <a:off x="1430868" y="3940176"/>
              <a:ext cx="3454400" cy="438150"/>
            </a:xfrm>
            <a:prstGeom prst="rect">
              <a:avLst/>
            </a:prstGeom>
          </p:spPr>
          <p:txBody>
            <a:bodyPr lIns="180000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David Lorenzo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EBD636A-72B2-D7F4-7EE1-C8EC4DE73587}"/>
              </a:ext>
            </a:extLst>
          </p:cNvPr>
          <p:cNvGrpSpPr/>
          <p:nvPr/>
        </p:nvGrpSpPr>
        <p:grpSpPr>
          <a:xfrm>
            <a:off x="880533" y="4662165"/>
            <a:ext cx="4665133" cy="671297"/>
            <a:chOff x="1430867" y="4200418"/>
            <a:chExt cx="3530599" cy="67129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E5D1DC3-6E42-B787-C5AE-E6E4E1A37299}"/>
                </a:ext>
              </a:extLst>
            </p:cNvPr>
            <p:cNvGrpSpPr/>
            <p:nvPr/>
          </p:nvGrpSpPr>
          <p:grpSpPr>
            <a:xfrm>
              <a:off x="1430867" y="3789363"/>
              <a:ext cx="3530599" cy="671297"/>
              <a:chOff x="1430867" y="3789363"/>
              <a:chExt cx="3530599" cy="671297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B47BC15F-5AF0-A82F-CA55-891D146F26C1}"/>
                  </a:ext>
                </a:extLst>
              </p:cNvPr>
              <p:cNvSpPr/>
              <p:nvPr userDrawn="1"/>
            </p:nvSpPr>
            <p:spPr>
              <a:xfrm>
                <a:off x="1507066" y="3871697"/>
                <a:ext cx="3454400" cy="588963"/>
              </a:xfrm>
              <a:prstGeom prst="roundRect">
                <a:avLst>
                  <a:gd name="adj" fmla="val 44191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6A316AC3-90D1-37C1-CE2C-BB4CC73758ED}"/>
                  </a:ext>
                </a:extLst>
              </p:cNvPr>
              <p:cNvSpPr/>
              <p:nvPr userDrawn="1"/>
            </p:nvSpPr>
            <p:spPr>
              <a:xfrm>
                <a:off x="1430867" y="3789363"/>
                <a:ext cx="3454400" cy="588963"/>
              </a:xfrm>
              <a:prstGeom prst="roundRect">
                <a:avLst>
                  <a:gd name="adj" fmla="val 44191"/>
                </a:avLst>
              </a:prstGeom>
              <a:ln>
                <a:noFill/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" name="Text Placeholder 17">
              <a:extLst>
                <a:ext uri="{FF2B5EF4-FFF2-40B4-BE49-F238E27FC236}">
                  <a16:creationId xmlns:a16="http://schemas.microsoft.com/office/drawing/2014/main" id="{80C86755-7576-0BDF-F950-1715F868BBD3}"/>
                </a:ext>
              </a:extLst>
            </p:cNvPr>
            <p:cNvSpPr txBox="1">
              <a:spLocks/>
            </p:cNvSpPr>
            <p:nvPr/>
          </p:nvSpPr>
          <p:spPr>
            <a:xfrm>
              <a:off x="1430868" y="3940176"/>
              <a:ext cx="3454400" cy="438150"/>
            </a:xfrm>
            <a:prstGeom prst="rect">
              <a:avLst/>
            </a:prstGeom>
          </p:spPr>
          <p:txBody>
            <a:bodyPr lIns="180000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Gare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Samir Makwana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0440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04A8E766-D041-9B6B-9F4F-1E854C528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Sponsors’s</a:t>
            </a:r>
            <a:r>
              <a:rPr lang="en-US" dirty="0"/>
              <a:t> page place holder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BBB31F-8715-385A-5912-D146A15BE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34EF763-FEF5-41B7-B3EE-DB7F8F9EC2F0}" type="slidenum">
              <a:rPr lang="en-GB" smtClean="0"/>
              <a:pPr algn="l"/>
              <a:t>2</a:t>
            </a:fld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6142B77-0333-156A-CB81-E677631F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39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B9C3-D43F-B82E-0B4B-447573B68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47EEF72-B044-C8A9-612B-B6BDE6153F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One year on — what actually changed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19D409A-66E9-9FA2-B373-D69D85DF21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The five orchestrations, all demoed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6892433-FF0A-925F-D92F-CBEA8634FC2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Underneath them: the workflow graph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7D5970A-DC03-16E9-5672-229244A164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Production: durability and failure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26F8A3C-6555-799D-B79C-BAD7A49505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Governance, cost and what to measure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3A8FEF06-0D37-10E2-3845-97052F0258A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222265" y="6328233"/>
            <a:ext cx="71501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algn="l"/>
            <a:fld id="{F34EF763-FEF5-41B7-B3EE-DB7F8F9EC2F0}" type="slidenum">
              <a:rPr lang="en-GB" smtClean="0"/>
              <a:pPr algn="l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013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0D589A-F988-055F-0CF8-F6B5DBBC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ONE YEAR ON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9EE6DA5-FAD6-C49F-A8F3-3CC65DBF7A0F}"/>
              </a:ext>
            </a:extLst>
          </p:cNvPr>
          <p:cNvSpPr txBox="1">
            <a:spLocks/>
          </p:cNvSpPr>
          <p:nvPr/>
        </p:nvSpPr>
        <p:spPr>
          <a:xfrm>
            <a:off x="222265" y="6328233"/>
            <a:ext cx="71501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EF763-FEF5-41B7-B3EE-DB7F8F9EC2F0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199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E51361-A95F-D0F3-7086-C1A015B9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CHANGED SINCE LAST SUMMIT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271CE-4409-F9D4-9AB6-A49933FA12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Agent Framework in public preview</a:t>
            </a:r>
          </a:p>
          <a:p>
            <a:r>
              <a:rPr lang="en-GB" dirty="0"/>
              <a:t>Five orchestration patterns, explained</a:t>
            </a:r>
          </a:p>
          <a:p>
            <a:r>
              <a:rPr lang="en-GB" dirty="0"/>
              <a:t>Two of them actually demoed</a:t>
            </a:r>
          </a:p>
          <a:p>
            <a:r>
              <a:rPr lang="en-GB" dirty="0"/>
              <a:t>AutoGen and Semantic Kernel still separate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0F2EE-3B62-62E4-C610-B8B03939FB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1.0 GA since 2 April 2026 — Python and .NET</a:t>
            </a:r>
          </a:p>
          <a:p>
            <a:r>
              <a:rPr lang="en-GB" dirty="0"/>
              <a:t>Same five patterns, all now stable</a:t>
            </a:r>
          </a:p>
          <a:p>
            <a:r>
              <a:rPr lang="en-GB" dirty="0"/>
              <a:t>All twelve demos in this session run live</a:t>
            </a:r>
          </a:p>
          <a:p>
            <a:r>
              <a:rPr lang="en-GB" dirty="0"/>
              <a:t>Convergence done; Build 2026 added agent harness, hosted agents, CodeAct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0BA43A-598B-4611-5CEA-4A51270A1A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Baltic Summit 2025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FD73F3-56DE-9C3F-0444-F3AD24C953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Today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93A639-D9DE-F88E-02B4-212060AEB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877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E51361-A95F-D0F3-7086-C1A015B9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HONEST HEADLINE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271CE-4409-F9D4-9AB6-A49933FA12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It is still Sequential, Concurrent, Group Chat, Handoff, Magentic</a:t>
            </a:r>
          </a:p>
          <a:p>
            <a:r>
              <a:rPr lang="en-GB" dirty="0"/>
              <a:t>Anyone selling you a sixth is selling you a graph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0F2EE-3B62-62E4-C610-B8B03939FB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The workflow graph matured — routing, loops, map-reduce, composition</a:t>
            </a:r>
          </a:p>
          <a:p>
            <a:r>
              <a:rPr lang="en-GB" dirty="0"/>
              <a:t>Checkpoints became fully replayable</a:t>
            </a:r>
          </a:p>
          <a:p>
            <a:r>
              <a:rPr lang="en-GB" dirty="0"/>
              <a:t>Approval gates became first-class workflow state</a:t>
            </a:r>
          </a:p>
          <a:p>
            <a:r>
              <a:rPr lang="en-GB" dirty="0"/>
              <a:t>The patterns did not change. The production scaffolding did.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0BA43A-598B-4611-5CEA-4A51270A1A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No new named pattern shipped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FD73F3-56DE-9C3F-0444-F3AD24C953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Everything around them did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93A639-D9DE-F88E-02B4-212060AEB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877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0D589A-F988-055F-0CF8-F6B5DBBC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FIVE ORCHESTRATIONS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9EE6DA5-FAD6-C49F-A8F3-3CC65DBF7A0F}"/>
              </a:ext>
            </a:extLst>
          </p:cNvPr>
          <p:cNvSpPr txBox="1">
            <a:spLocks/>
          </p:cNvSpPr>
          <p:nvPr/>
        </p:nvSpPr>
        <p:spPr>
          <a:xfrm>
            <a:off x="222265" y="6328233"/>
            <a:ext cx="71501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EF763-FEF5-41B7-B3EE-DB7F8F9EC2F0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199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262EA4-EA1E-002C-8A20-E101997B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01 · SEQUENTIAL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070C7-B7E5-B00C-0465-4ABD0DE109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Steps genuinely depend on each other</a:t>
            </a:r>
          </a:p>
          <a:p>
            <a:r>
              <a:t>You need a reproducible pipeline</a:t>
            </a:r>
          </a:p>
          <a:p>
            <a:r>
              <a:t>Refinement improves each stage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D247D8-EE71-732F-C3B9-621AD71E69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The work is embarrassingly parallel</a:t>
            </a:r>
          </a:p>
          <a:p>
            <a:r>
              <a:t>One agent could do every stage</a:t>
            </a:r>
          </a:p>
          <a:p>
            <a:r>
              <a:t>You need routing or backtracking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540377-1D79-E552-D827-9328962BF8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Use when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7DFF26-3864-8315-C0DC-D18F8BFE3A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Avoid when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7122FB-AD61-D2DB-C933-8D6AA486F5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Error amplification: a wrong fact at stage one becomes established truth by stage three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E4A9A2-1F7B-8D74-7101-85E9753C56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SequentialBuilder(participants=[...])</a:t>
            </a:r>
          </a:p>
          <a:p>
            <a:r>
              <a:t>output_from='all'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EE2086-94F6-18BA-D85E-6BACB4942B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it fails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5E38CB-2B4D-56DE-827B-4929DF45A7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r>
              <a:rPr lang="en-GB" dirty="0"/>
              <a:t>API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1C7F77B-4780-2BB0-B093-6CC2FD41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933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262EA4-EA1E-002C-8A20-E101997B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02 · CONCURRENT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070C7-B7E5-B00C-0465-4ABD0DE109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Specialists assess one input from different angles</a:t>
            </a:r>
          </a:p>
          <a:p>
            <a:r>
              <a:t>You want uncorrelated views</a:t>
            </a:r>
          </a:p>
          <a:p>
            <a:r>
              <a:t>Latency matters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D247D8-EE71-732F-C3B9-621AD71E69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There is a strict order of operations</a:t>
            </a:r>
          </a:p>
          <a:p>
            <a:r>
              <a:t>Participants write shared state</a:t>
            </a:r>
          </a:p>
          <a:p>
            <a:r>
              <a:t>You have no aggregation rule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540377-1D79-E552-D827-9328962BF8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Use when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7DFF26-3864-8315-C0DC-D18F8BFE3A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Avoid when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7122FB-AD61-D2DB-C933-8D6AA486F5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Cost multiplies by N, and the aggregator averages away a real disagreement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E4A9A2-1F7B-8D74-7101-85E9753C56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ConcurrentBuilder(participants=[...])</a:t>
            </a:r>
          </a:p>
          <a:p>
            <a:r>
              <a:t>.with_aggregator(executor)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EE2086-94F6-18BA-D85E-6BACB4942B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it fails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5E38CB-2B4D-56DE-827B-4929DF45A7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r>
              <a:rPr lang="en-GB" dirty="0"/>
              <a:t>API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1C7F77B-4780-2BB0-B093-6CC2FD41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933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262EA4-EA1E-002C-8A20-E101997B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03 · GROUP CHAT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070C7-B7E5-B00C-0465-4ABD0DE109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The decision benefits from debate</a:t>
            </a:r>
          </a:p>
          <a:p>
            <a:r>
              <a:t>Maker-checker or a quality gate</a:t>
            </a:r>
          </a:p>
          <a:p>
            <a:r>
              <a:t>A human may read or join the thread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D247D8-EE71-732F-C3B9-621AD71E69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Simple delegation would do</a:t>
            </a:r>
          </a:p>
          <a:p>
            <a:r>
              <a:t>Dialogue rounds would breach an SLA</a:t>
            </a:r>
          </a:p>
          <a:p>
            <a:r>
              <a:t>Nothing can objectively judge 'done'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540377-1D79-E552-D827-9328962BF8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Use when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7DFF26-3864-8315-C0DC-D18F8BFE3A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Avoid when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7122FB-AD61-D2DB-C933-8D6AA486F5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Infinite agreement: participants politely restate each other until the budget runs out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E4A9A2-1F7B-8D74-7101-85E9753C56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GroupChatBuilder(selection_func=...)</a:t>
            </a:r>
          </a:p>
          <a:p>
            <a:r>
              <a:t>max_rounds= / termination_condition=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EE2086-94F6-18BA-D85E-6BACB4942B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it fails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5E38CB-2B4D-56DE-827B-4929DF45A7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r>
              <a:rPr lang="en-GB" dirty="0"/>
              <a:t>API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1C7F77B-4780-2BB0-B093-6CC2FD41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933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262EA4-EA1E-002C-8A20-E101997B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04 · HANDOFF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070C7-B7E5-B00C-0465-4ABD0DE109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The right expert is not known up front</a:t>
            </a:r>
          </a:p>
          <a:p>
            <a:r>
              <a:t>Escalation is normal</a:t>
            </a:r>
          </a:p>
          <a:p>
            <a:r>
              <a:t>Ownership should move with the case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D247D8-EE71-732F-C3B9-621AD71E69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You need parallel analysis</a:t>
            </a:r>
          </a:p>
          <a:p>
            <a:r>
              <a:t>A central manager should control flow</a:t>
            </a:r>
          </a:p>
          <a:p>
            <a:r>
              <a:t>The pipeline is fixed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540377-1D79-E552-D827-9328962BF8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Use when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7DFF26-3864-8315-C0DC-D18F8BFE3A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Avoid when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7122FB-AD61-D2DB-C933-8D6AA486F5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Hot potato: two specialists each think the case is the other's, and pass it back and forth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E4A9A2-1F7B-8D74-7101-85E9753C56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HandoffBuilder().with_start_agent(a)</a:t>
            </a:r>
          </a:p>
          <a:p>
            <a:r>
              <a:t>.add_handoff(source, [targets])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EE2086-94F6-18BA-D85E-6BACB4942B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it fails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5E38CB-2B4D-56DE-827B-4929DF45A7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r>
              <a:rPr lang="en-GB" dirty="0"/>
              <a:t>API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1C7F77B-4780-2BB0-B093-6CC2FD41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933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262EA4-EA1E-002C-8A20-E101997B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05 · MAGENTIC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070C7-B7E5-B00C-0465-4ABD0DE109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The problem is genuinely open-ended</a:t>
            </a:r>
          </a:p>
          <a:p>
            <a:r>
              <a:t>Several rounds of research are needed</a:t>
            </a:r>
          </a:p>
          <a:p>
            <a:r>
              <a:t>You want plan review before work starts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D247D8-EE71-732F-C3B9-621AD71E69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The task is linear — Sequential is far cheaper</a:t>
            </a:r>
          </a:p>
          <a:p>
            <a:r>
              <a:t>You only need parallel outputs</a:t>
            </a:r>
          </a:p>
          <a:p>
            <a:r>
              <a:t>Dynamic multi-round is not permitted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540377-1D79-E552-D827-9328962BF8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Use when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7DFF26-3864-8315-C0DC-D18F8BFE3A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Avoid when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7122FB-AD61-D2DB-C933-8D6AA486F5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Unbounded spend: a language model decides at runtime how many rounds your budget buys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E4A9A2-1F7B-8D74-7101-85E9753C56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MagenticBuilder(manager_agent=...)</a:t>
            </a:r>
          </a:p>
          <a:p>
            <a:r>
              <a:t>max_round_count / max_stall_count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EE2086-94F6-18BA-D85E-6BACB4942B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en-GB" dirty="0"/>
              <a:t>How it fails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5E38CB-2B4D-56DE-827B-4929DF45A7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r>
              <a:rPr lang="en-GB" dirty="0"/>
              <a:t>API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1C7F77B-4780-2BB0-B093-6CC2FD41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933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0D589A-F988-055F-0CF8-F6B5DBBC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UNDERNEATH THE FIVE: THE WORKFLOW GRAPH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9EE6DA5-FAD6-C49F-A8F3-3CC65DBF7A0F}"/>
              </a:ext>
            </a:extLst>
          </p:cNvPr>
          <p:cNvSpPr txBox="1">
            <a:spLocks/>
          </p:cNvSpPr>
          <p:nvPr/>
        </p:nvSpPr>
        <p:spPr>
          <a:xfrm>
            <a:off x="222265" y="6328233"/>
            <a:ext cx="71501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EF763-FEF5-41B7-B3EE-DB7F8F9EC2F0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199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E51361-A95F-D0F3-7086-C1A015B9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NONE OF THE FIVE FIT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271CE-4409-F9D4-9AB6-A49933FA12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A switch-case edge group picks exactly one branch</a:t>
            </a:r>
          </a:p>
          <a:p>
            <a:r>
              <a:rPr lang="en-GB" dirty="0"/>
              <a:t>The model classifies; plain Python decides</a:t>
            </a:r>
          </a:p>
          <a:p>
            <a:r>
              <a:rPr lang="en-GB" dirty="0"/>
              <a:t>Routing you can unit-test without calling a model</a:t>
            </a:r>
          </a:p>
          <a:p>
            <a:r>
              <a:rPr lang="en-GB" dirty="0"/>
              <a:t>Fails as: the silent Default nobody reads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0F2EE-3B62-62E4-C610-B8B03939FB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Map over a collection, join at one reducer</a:t>
            </a:r>
          </a:p>
          <a:p>
            <a:r>
              <a:rPr lang="en-GB" dirty="0"/>
              <a:t>Most nodes here are not agents — and should not be</a:t>
            </a:r>
          </a:p>
          <a:p>
            <a:r>
              <a:rPr lang="en-GB" dirty="0"/>
              <a:t>Spend model calls on judgement, not arithmetic</a:t>
            </a:r>
          </a:p>
          <a:p>
            <a:r>
              <a:rPr lang="en-GB" dirty="0"/>
              <a:t>Fails as: one straggler sets the latency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0BA43A-598B-4611-5CEA-4A51270A1A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06 · Conditional routing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FD73F3-56DE-9C3F-0444-F3AD24C953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07 · Fan-out / fan-in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93A639-D9DE-F88E-02B4-212060AEB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877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E51361-A95F-D0F3-7086-C1A015B9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CYCLES AND COMPOSITION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271CE-4409-F9D4-9AB6-A49933FA12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Draft, critique, rewrite — a real cycle in the graph</a:t>
            </a:r>
          </a:p>
          <a:p>
            <a:r>
              <a:rPr lang="en-GB" dirty="0"/>
              <a:t>The interesting part is the exit, not the loop</a:t>
            </a:r>
          </a:p>
          <a:p>
            <a:r>
              <a:rPr lang="en-GB" dirty="0"/>
              <a:t>Cap the iterations and escalate to a person</a:t>
            </a:r>
          </a:p>
          <a:p>
            <a:r>
              <a:rPr lang="en-GB" dirty="0"/>
              <a:t>Fails as: a critic that approves everything to end the conversation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0F2EE-3B62-62E4-C610-B8B03939FB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WorkflowExecutor makes a whole workflow one node</a:t>
            </a:r>
          </a:p>
          <a:p>
            <a:r>
              <a:rPr lang="en-GB" dirty="0"/>
              <a:t>The child keeps its own graph, state, tests and owner</a:t>
            </a:r>
          </a:p>
          <a:p>
            <a:r>
              <a:rPr lang="en-GB" dirty="0"/>
              <a:t>How a shared gate gets reused without editing a huge graph</a:t>
            </a:r>
          </a:p>
          <a:p>
            <a:r>
              <a:rPr lang="en-GB" dirty="0"/>
              <a:t>Fails as: error opacity — the parent sees a node fail, not the step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0BA43A-598B-4611-5CEA-4A51270A1A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08 · Reflection loop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FD73F3-56DE-9C3F-0444-F3AD24C953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09 · Sub-workflow composition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93A639-D9DE-F88E-02B4-212060AEB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877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0D589A-F988-055F-0CF8-F6B5DBBC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PRODUCTION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9EE6DA5-FAD6-C49F-A8F3-3CC65DBF7A0F}"/>
              </a:ext>
            </a:extLst>
          </p:cNvPr>
          <p:cNvSpPr txBox="1">
            <a:spLocks/>
          </p:cNvSpPr>
          <p:nvPr/>
        </p:nvSpPr>
        <p:spPr>
          <a:xfrm>
            <a:off x="222265" y="6328233"/>
            <a:ext cx="71501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EF763-FEF5-41B7-B3EE-DB7F8F9EC2F0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199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E51361-A95F-D0F3-7086-C1A015B9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10 · HUMAN IN THE LOOP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271CE-4409-F9D4-9AB6-A49933FA12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.with_request_info(agents=[...]) makes a participant a gate</a:t>
            </a:r>
          </a:p>
          <a:p>
            <a:r>
              <a:rPr lang="en-GB" dirty="0"/>
              <a:t>The workflow emits request_info and suspends</a:t>
            </a:r>
          </a:p>
          <a:p>
            <a:r>
              <a:rPr lang="en-GB" dirty="0"/>
              <a:t>It resumes via run(responses=...) — the pause is state, not a held coroutine</a:t>
            </a:r>
          </a:p>
          <a:p>
            <a:r>
              <a:rPr lang="en-GB" dirty="0"/>
              <a:t>So an approval can outlive the process that asked for it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0F2EE-3B62-62E4-C610-B8B03939FB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Rubber-stamping: forty approvals an hour are forty rubber stamps</a:t>
            </a:r>
          </a:p>
          <a:p>
            <a:r>
              <a:rPr lang="en-GB" dirty="0"/>
              <a:t>Gate on a threshold, not on every case</a:t>
            </a:r>
          </a:p>
          <a:p>
            <a:r>
              <a:rPr lang="en-GB" dirty="0"/>
              <a:t>Give the approver the figures, not the transcript</a:t>
            </a:r>
          </a:p>
          <a:p>
            <a:r>
              <a:rPr lang="en-GB" dirty="0"/>
              <a:t>Alarm the queue — a gate nobody answers is an outage that looks quiet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0BA43A-598B-4611-5CEA-4A51270A1A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mechanism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FD73F3-56DE-9C3F-0444-F3AD24C953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it costs you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93A639-D9DE-F88E-02B4-212060AEB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877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E51361-A95F-D0F3-7086-C1A015B9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11 · CHECKPOINT AND RESUME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271CE-4409-F9D4-9AB6-A49933FA12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Pass checkpoint_storage to any builder</a:t>
            </a:r>
          </a:p>
          <a:p>
            <a:r>
              <a:rPr lang="en-GB" dirty="0"/>
              <a:t>State persists as the workflow advances</a:t>
            </a:r>
          </a:p>
          <a:p>
            <a:r>
              <a:rPr lang="en-GB" dirty="0"/>
              <a:t>Resume by id — in another object, process or pod</a:t>
            </a:r>
          </a:p>
          <a:p>
            <a:r>
              <a:rPr lang="en-GB" dirty="0"/>
              <a:t>In the demo the first instance is discarded mid-run, and a new one finishes the job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0F2EE-3B62-62E4-C610-B8B03939FB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Replayed side effects: resuming re-enters nodes that already sent the email</a:t>
            </a:r>
          </a:p>
          <a:p>
            <a:r>
              <a:rPr lang="en-GB" dirty="0"/>
              <a:t>Make effectful nodes idempotent on a key from workflow state</a:t>
            </a:r>
          </a:p>
          <a:p>
            <a:r>
              <a:rPr lang="en-GB" dirty="0"/>
              <a:t>A checkpoint is a copy of your data — same retention rules apply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0BA43A-598B-4611-5CEA-4A51270A1A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mechanism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FD73F3-56DE-9C3F-0444-F3AD24C953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What it costs you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93A639-D9DE-F88E-02B4-212060AEB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877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262EA4-EA1E-002C-8A20-E101997B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12 · THREE WAYS IT DIES IN PRODUCTION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070C7-B7E5-B00C-0465-4ABD0DE109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Two agents that never concede</a:t>
            </a:r>
          </a:p>
          <a:p>
            <a:r>
              <a:t>Contained by a hard round cap</a:t>
            </a:r>
          </a:p>
          <a:p>
            <a:r>
              <a:t>Not by agreement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D247D8-EE71-732F-C3B9-621AD71E69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The specialist's client returns 503</a:t>
            </a:r>
          </a:p>
          <a:p>
            <a:r>
              <a:t>Contained by a labelled fallback path</a:t>
            </a:r>
          </a:p>
          <a:p>
            <a:r>
              <a:t>The caller still gets an answer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540377-1D79-E552-D827-9328962BF8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runaway loop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37DFF26-3864-8315-C0DC-D18F8BFE3A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dead provider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17122FB-AD61-D2DB-C933-8D6AA486F5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A tool that never returns</a:t>
            </a:r>
          </a:p>
          <a:p>
            <a:r>
              <a:t>Contained by a timeout</a:t>
            </a:r>
          </a:p>
          <a:p>
            <a:r>
              <a:t>Proceed without it, flag for review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E4A9A2-1F7B-8D74-7101-85E9753C56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A cap that always fires means work never finishes</a:t>
            </a:r>
          </a:p>
          <a:p>
            <a:r>
              <a:t>A busy fallback is a silent outage</a:t>
            </a:r>
          </a:p>
          <a:p>
            <a:r>
              <a:t>Alert on the rate, not the event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6EE2086-94F6-18BA-D85E-6BACB4942B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hung call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5E38CB-2B4D-56DE-827B-4929DF45A7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r>
              <a:rPr lang="en-GB" dirty="0"/>
              <a:t>Then watch them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1C7F77B-4780-2BB0-B093-6CC2FD41F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933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0D589A-F988-055F-0CF8-F6B5DBBC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DEMO: ALL TWELVE, LIVE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9EE6DA5-FAD6-C49F-A8F3-3CC65DBF7A0F}"/>
              </a:ext>
            </a:extLst>
          </p:cNvPr>
          <p:cNvSpPr txBox="1">
            <a:spLocks/>
          </p:cNvSpPr>
          <p:nvPr/>
        </p:nvSpPr>
        <p:spPr>
          <a:xfrm>
            <a:off x="222265" y="6328233"/>
            <a:ext cx="71501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EF763-FEF5-41B7-B3EE-DB7F8F9EC2F0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199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E51361-A95F-D0F3-7086-C1A015B9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YOU ARE ABOUT TO SEE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271CE-4409-F9D4-9AB6-A49933FA12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Baltic Freight Group — a freight forwarder with twenty shipments in trouble</a:t>
            </a:r>
          </a:p>
          <a:p>
            <a:r>
              <a:rPr lang="en-GB" dirty="0"/>
              <a:t>Every pattern works the same exception data</a:t>
            </a:r>
          </a:p>
          <a:p>
            <a:r>
              <a:rPr lang="en-GB" dirty="0"/>
              <a:t>The whole database is in process memory</a:t>
            </a:r>
          </a:p>
          <a:p>
            <a:r>
              <a:rPr lang="en-GB" dirty="0"/>
              <a:t>DevUI shows the framework's own view: graph, events, streamed interaction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0F2EE-3B62-62E4-C610-B8B03939FB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Default provider is a deterministic offline client</a:t>
            </a:r>
          </a:p>
          <a:p>
            <a:r>
              <a:rPr lang="en-GB" dirty="0"/>
              <a:t>No key, no network, no cost — same code path as Azure OpenAI</a:t>
            </a:r>
          </a:p>
          <a:p>
            <a:r>
              <a:rPr lang="en-GB" dirty="0"/>
              <a:t>One environment variable switches to a real model</a:t>
            </a:r>
          </a:p>
          <a:p>
            <a:r>
              <a:rPr lang="en-GB" dirty="0"/>
              <a:t>Graceful degradation is not just slide 18; it is how the demo ships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0BA43A-598B-4611-5CEA-4A51270A1A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setup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FD73F3-56DE-9C3F-0444-F3AD24C953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it will work on this wifi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93A639-D9DE-F88E-02B4-212060AEB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877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E51361-A95F-D0F3-7086-C1A015B9E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GOVERNANCE, COST AND WHAT TO MEASURE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271CE-4409-F9D4-9AB6-A49933FA12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Every loop: max rounds, max stalls, max resets</a:t>
            </a:r>
          </a:p>
          <a:p>
            <a:r>
              <a:rPr lang="en-GB" dirty="0"/>
              <a:t>Every external call: a timeout</a:t>
            </a:r>
          </a:p>
          <a:p>
            <a:r>
              <a:rPr lang="en-GB" dirty="0"/>
              <a:t>Every specialist: a fallback</a:t>
            </a:r>
          </a:p>
          <a:p>
            <a:r>
              <a:rPr lang="en-GB" dirty="0"/>
              <a:t>Every money decision: a threshold and a named human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0F2EE-3B62-62E4-C610-B8B03939FB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Tokens and cost per completed workflow, not per call</a:t>
            </a:r>
          </a:p>
          <a:p>
            <a:r>
              <a:rPr lang="en-GB" dirty="0"/>
              <a:t>Rate at which each guardrail fires</a:t>
            </a:r>
          </a:p>
          <a:p>
            <a:r>
              <a:rPr lang="en-GB" dirty="0"/>
              <a:t>Approval queue depth and time-to-decision</a:t>
            </a:r>
          </a:p>
          <a:p>
            <a:r>
              <a:rPr lang="en-GB" dirty="0"/>
              <a:t>Fallback share of traffic — the metric that finds silent outages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0BA43A-598B-4611-5CEA-4A51270A1A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GB" dirty="0"/>
              <a:t>Cap before you ship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EFD73F3-56DE-9C3F-0444-F3AD24C953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GB" dirty="0"/>
              <a:t>Measure after you ship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93A639-D9DE-F88E-02B4-212060AEB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877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34530D-4840-2763-ADBC-1C3F12B0E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9296-B0D0-4568-45C9-3E1C788B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EF763-FEF5-41B7-B3EE-DB7F8F9EC2F0}" type="slidenum">
              <a:rPr lang="en-GB" smtClean="0"/>
              <a:t>5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49235-EC0A-31EF-B13C-F90A03333C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This session — code, demos and the showcase site:</a:t>
            </a:r>
          </a:p>
          <a:p>
            <a:pPr marL="0" indent="0">
              <a:buNone/>
            </a:pPr>
            <a:r>
              <a:rPr lang="en-GB" dirty="0"/>
              <a:t>github.com/david-lorenzo88/ms-agent-framework-from-chaos-to-symphony</a:t>
            </a:r>
          </a:p>
          <a:p>
            <a:pPr marL="0" indent="0">
              <a:buNone/>
            </a:pPr>
          </a:p>
          <a:p>
            <a:pPr marL="0" indent="0">
              <a:buNone/>
            </a:pPr>
            <a:r>
              <a:rPr lang="en-GB" dirty="0"/>
              <a:t>Microsoft Agent Framework: github.com/microsoft/agent-framework</a:t>
            </a:r>
          </a:p>
          <a:p>
            <a:pPr marL="0" indent="0">
              <a:buNone/>
            </a:pPr>
            <a:r>
              <a:rPr lang="en-GB" dirty="0"/>
              <a:t>Docs: learn.microsoft.com/agent-framework</a:t>
            </a:r>
          </a:p>
          <a:p>
            <a:pPr marL="0" indent="0">
              <a:buNone/>
            </a:pPr>
            <a:r>
              <a:rPr lang="en-GB" dirty="0"/>
              <a:t>Agent design patterns: learn.microsoft.com/azure/architecture/ai-ml/guide/ai-agent-design-patterns</a:t>
            </a:r>
          </a:p>
          <a:p>
            <a:pPr marL="0" indent="0">
              <a:buNone/>
            </a:pPr>
          </a:p>
          <a:p>
            <a:pPr marL="0" indent="0">
              <a:buNone/>
            </a:pPr>
            <a:r>
              <a:rPr lang="en-GB" dirty="0"/>
              <a:t>David Lorenzo — linkedin.com/in/davidlorenzolopez</a:t>
            </a:r>
          </a:p>
          <a:p>
            <a:pPr marL="0" indent="0">
              <a:buNone/>
            </a:pPr>
            <a:r>
              <a:rPr lang="en-GB" dirty="0"/>
              <a:t>Samir Makwana</a:t>
            </a:r>
          </a:p>
        </p:txBody>
      </p:sp>
    </p:spTree>
    <p:extLst>
      <p:ext uri="{BB962C8B-B14F-4D97-AF65-F5344CB8AC3E}">
        <p14:creationId xmlns:p14="http://schemas.microsoft.com/office/powerpoint/2010/main" val="2101074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0D589A-F988-055F-0CF8-F6B5DBBC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9EE6DA5-FAD6-C49F-A8F3-3CC65DBF7A0F}"/>
              </a:ext>
            </a:extLst>
          </p:cNvPr>
          <p:cNvSpPr txBox="1">
            <a:spLocks/>
          </p:cNvSpPr>
          <p:nvPr/>
        </p:nvSpPr>
        <p:spPr>
          <a:xfrm>
            <a:off x="222265" y="6328233"/>
            <a:ext cx="71501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34EF763-FEF5-41B7-B3EE-DB7F8F9EC2F0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199730"/>
      </p:ext>
    </p:extLst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BalticSummitColours">
      <a:dk1>
        <a:srgbClr val="09376E"/>
      </a:dk1>
      <a:lt1>
        <a:sysClr val="window" lastClr="FFFFFF"/>
      </a:lt1>
      <a:dk2>
        <a:srgbClr val="09376E"/>
      </a:dk2>
      <a:lt2>
        <a:srgbClr val="D9D9D9"/>
      </a:lt2>
      <a:accent1>
        <a:srgbClr val="FFBD63"/>
      </a:accent1>
      <a:accent2>
        <a:srgbClr val="538BAC"/>
      </a:accent2>
      <a:accent3>
        <a:srgbClr val="7AD285"/>
      </a:accent3>
      <a:accent4>
        <a:srgbClr val="FF3131"/>
      </a:accent4>
      <a:accent5>
        <a:srgbClr val="FFFFFF"/>
      </a:accent5>
      <a:accent6>
        <a:srgbClr val="09376E"/>
      </a:accent6>
      <a:hlink>
        <a:srgbClr val="FFFFFF"/>
      </a:hlink>
      <a:folHlink>
        <a:srgbClr val="538BAC"/>
      </a:folHlink>
    </a:clrScheme>
    <a:fontScheme name="BalticSummit Fonts">
      <a:majorFont>
        <a:latin typeface="Garet"/>
        <a:ea typeface=""/>
        <a:cs typeface=""/>
      </a:majorFont>
      <a:minorFont>
        <a:latin typeface="Gare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C2AE2A1CEAF24A9E9426CD62EFF6D0" ma:contentTypeVersion="15" ma:contentTypeDescription="Create a new document." ma:contentTypeScope="" ma:versionID="35db1ee27c00b4d2e39365ef9e6f46cf">
  <xsd:schema xmlns:xsd="http://www.w3.org/2001/XMLSchema" xmlns:xs="http://www.w3.org/2001/XMLSchema" xmlns:p="http://schemas.microsoft.com/office/2006/metadata/properties" xmlns:ns2="697f3552-ffbd-4ff1-a45e-75473e0018a3" xmlns:ns3="d2a08077-3810-4939-8eeb-74350228fb56" targetNamespace="http://schemas.microsoft.com/office/2006/metadata/properties" ma:root="true" ma:fieldsID="23df0051b7c2ae0cad93ec1541b242b5" ns2:_="" ns3:_="">
    <xsd:import namespace="697f3552-ffbd-4ff1-a45e-75473e0018a3"/>
    <xsd:import namespace="d2a08077-3810-4939-8eeb-74350228fb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7f3552-ffbd-4ff1-a45e-75473e0018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f371a6b-27c1-499d-8092-3148cde74ff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08077-3810-4939-8eeb-74350228fb5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29c771b-a7a8-4238-abe7-9e4619fcfad2}" ma:internalName="TaxCatchAll" ma:showField="CatchAllData" ma:web="d2a08077-3810-4939-8eeb-74350228fb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97f3552-ffbd-4ff1-a45e-75473e0018a3">
      <Terms xmlns="http://schemas.microsoft.com/office/infopath/2007/PartnerControls"/>
    </lcf76f155ced4ddcb4097134ff3c332f>
    <TaxCatchAll xmlns="d2a08077-3810-4939-8eeb-74350228fb56" xsi:nil="true"/>
  </documentManagement>
</p:properties>
</file>

<file path=customXml/itemProps1.xml><?xml version="1.0" encoding="utf-8"?>
<ds:datastoreItem xmlns:ds="http://schemas.openxmlformats.org/officeDocument/2006/customXml" ds:itemID="{136E785D-8D7C-4B39-AE77-E70820083D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7f3552-ffbd-4ff1-a45e-75473e0018a3"/>
    <ds:schemaRef ds:uri="d2a08077-3810-4939-8eeb-74350228fb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B97654-22D5-4AD3-BFAD-8715B0FA70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AEBF42-73B1-499A-8139-62E45CC85514}">
  <ds:schemaRefs>
    <ds:schemaRef ds:uri="http://schemas.microsoft.com/office/2006/metadata/properties"/>
    <ds:schemaRef ds:uri="http://schemas.microsoft.com/office/infopath/2007/PartnerControls"/>
    <ds:schemaRef ds:uri="697f3552-ffbd-4ff1-a45e-75473e0018a3"/>
    <ds:schemaRef ds:uri="d2a08077-3810-4939-8eeb-74350228fb5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</TotalTime>
  <Words>139</Words>
  <Application>Microsoft Office PowerPoint</Application>
  <PresentationFormat>Widescreen</PresentationFormat>
  <Paragraphs>59</Paragraphs>
  <Slides>17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1_Custom Design</vt:lpstr>
      <vt:lpstr>PRESENTATION TITLE</vt:lpstr>
      <vt:lpstr>Sponsors’s page place holder</vt:lpstr>
      <vt:lpstr>AGENDA</vt:lpstr>
      <vt:lpstr>TITLE OF THIS SECTION</vt:lpstr>
      <vt:lpstr>TITLE</vt:lpstr>
      <vt:lpstr>TITLE</vt:lpstr>
      <vt:lpstr>TITLE</vt:lpstr>
      <vt:lpstr>PowerPoint Presentation</vt:lpstr>
      <vt:lpstr>PowerPoint Presentation</vt:lpstr>
      <vt:lpstr>PowerPoint Presentation</vt:lpstr>
      <vt:lpstr>TITLE</vt:lpstr>
      <vt:lpstr>TITLE</vt:lpstr>
      <vt:lpstr>PowerPoint Presentation</vt:lpstr>
      <vt:lpstr>Add the quotation here. Keep it short, punchy and memorable — two lines work best on this layout.</vt:lpstr>
      <vt:lpstr>PowerPoint Presentation</vt:lpstr>
      <vt:lpstr>PowerPoint Presentation</vt:lpstr>
      <vt:lpstr>Additional elements you can copy and paste them to other slides if needed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Natalia Kuroś</dc:creator>
  <cp:lastModifiedBy>Michal Ziemba</cp:lastModifiedBy>
  <cp:revision>2</cp:revision>
  <dcterms:created xsi:type="dcterms:W3CDTF">2026-08-31T14:39:46Z</dcterms:created>
  <dcterms:modified xsi:type="dcterms:W3CDTF">2026-09-19T14:01:56Z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0x0101006EC2AE2A1CEAF24A9E9426CD62EFF6D0</vt:lpwstr>
  </property>
  <property fmtid="{D5CDD505-2E9C-101B-9397-08002B2CF9AE}" pid="3" name="MediaServiceImageTags">
    <vt:lpwstr/>
  </property>
</Properties>
</file>